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4B"/>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F1E33"/>
          </a:solidFill>
          <a:ln w="12700">
            <a:solidFill>
              <a:srgbClr val="0F1E33"/>
            </a:solidFill>
            <a:prstDash val="solid"/>
          </a:ln>
        </p:spPr>
      </p:sp>
      <p:sp>
        <p:nvSpPr>
          <p:cNvPr id="3" name="Shape 1"/>
          <p:cNvSpPr/>
          <p:nvPr/>
        </p:nvSpPr>
        <p:spPr>
          <a:xfrm>
            <a:off x="3474720" y="0"/>
            <a:ext cx="91440" cy="5143500"/>
          </a:xfrm>
          <a:prstGeom prst="rect">
            <a:avLst/>
          </a:prstGeom>
          <a:solidFill>
            <a:srgbClr val="E8920A"/>
          </a:solidFill>
          <a:ln w="12700">
            <a:solidFill>
              <a:srgbClr val="E8920A"/>
            </a:solidFill>
            <a:prstDash val="solid"/>
          </a:ln>
        </p:spPr>
      </p:sp>
      <p:sp>
        <p:nvSpPr>
          <p:cNvPr id="4" name="Text 2"/>
          <p:cNvSpPr/>
          <p:nvPr/>
        </p:nvSpPr>
        <p:spPr>
          <a:xfrm>
            <a:off x="228600" y="457200"/>
            <a:ext cx="3017520" cy="640080"/>
          </a:xfrm>
          <a:prstGeom prst="rect">
            <a:avLst/>
          </a:prstGeom>
          <a:noFill/>
          <a:ln/>
        </p:spPr>
        <p:txBody>
          <a:bodyPr wrap="square" lIns="0" tIns="0" rIns="0" bIns="0" rtlCol="0" anchor="ctr"/>
          <a:lstStyle/>
          <a:p>
            <a:pPr indent="0" marL="0">
              <a:buNone/>
            </a:pPr>
            <a:r>
              <a:rPr lang="en-US" sz="1300" b="1" spc="800" kern="0" dirty="0">
                <a:solidFill>
                  <a:srgbClr val="E8920A"/>
                </a:solidFill>
                <a:latin typeface="Calibri" pitchFamily="34" charset="0"/>
                <a:ea typeface="Calibri" pitchFamily="34" charset="-122"/>
                <a:cs typeface="Calibri" pitchFamily="34" charset="-120"/>
              </a:rPr>
              <a:t>LAB</a:t>
            </a:r>
            <a:endParaRPr lang="en-US" sz="1300" dirty="0"/>
          </a:p>
        </p:txBody>
      </p:sp>
      <p:sp>
        <p:nvSpPr>
          <p:cNvPr id="5" name="Text 3"/>
          <p:cNvSpPr/>
          <p:nvPr/>
        </p:nvSpPr>
        <p:spPr>
          <a:xfrm>
            <a:off x="228600" y="1005840"/>
            <a:ext cx="3017520" cy="182880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Work</a:t>
            </a:r>
            <a:endParaRPr lang="en-US" sz="7200" dirty="0"/>
          </a:p>
          <a:p>
            <a:pPr indent="0" marL="0">
              <a:buNone/>
            </a:pPr>
            <a:r>
              <a:rPr lang="en-US" sz="7200" b="1" dirty="0">
                <a:solidFill>
                  <a:srgbClr val="FFFFFF"/>
                </a:solidFill>
                <a:latin typeface="Calibri" pitchFamily="34" charset="0"/>
                <a:ea typeface="Calibri" pitchFamily="34" charset="-122"/>
                <a:cs typeface="Calibri" pitchFamily="34" charset="-120"/>
              </a:rPr>
              <a:t>2</a:t>
            </a:r>
            <a:endParaRPr lang="en-US" sz="7200" dirty="0"/>
          </a:p>
        </p:txBody>
      </p:sp>
      <p:sp>
        <p:nvSpPr>
          <p:cNvPr id="6" name="Shape 4"/>
          <p:cNvSpPr/>
          <p:nvPr/>
        </p:nvSpPr>
        <p:spPr>
          <a:xfrm>
            <a:off x="228600" y="2926080"/>
            <a:ext cx="2560320" cy="45720"/>
          </a:xfrm>
          <a:prstGeom prst="rect">
            <a:avLst/>
          </a:prstGeom>
          <a:solidFill>
            <a:srgbClr val="E8920A"/>
          </a:solidFill>
          <a:ln w="12700">
            <a:solidFill>
              <a:srgbClr val="E8920A"/>
            </a:solidFill>
            <a:prstDash val="solid"/>
          </a:ln>
        </p:spPr>
      </p:sp>
      <p:sp>
        <p:nvSpPr>
          <p:cNvPr id="7" name="Text 5"/>
          <p:cNvSpPr/>
          <p:nvPr/>
        </p:nvSpPr>
        <p:spPr>
          <a:xfrm>
            <a:off x="228600" y="3063240"/>
            <a:ext cx="3017520" cy="320040"/>
          </a:xfrm>
          <a:prstGeom prst="rect">
            <a:avLst/>
          </a:prstGeom>
          <a:noFill/>
          <a:ln/>
        </p:spPr>
        <p:txBody>
          <a:bodyPr wrap="square" lIns="0" tIns="0" rIns="0" bIns="0" rtlCol="0" anchor="ctr"/>
          <a:lstStyle/>
          <a:p>
            <a:pPr indent="0" marL="0">
              <a:buNone/>
            </a:pPr>
            <a:r>
              <a:rPr lang="en-US" sz="1000" dirty="0">
                <a:solidFill>
                  <a:srgbClr val="A0B8D0"/>
                </a:solidFill>
                <a:latin typeface="Calibri" pitchFamily="34" charset="0"/>
                <a:ea typeface="Calibri" pitchFamily="34" charset="-122"/>
                <a:cs typeface="Calibri" pitchFamily="34" charset="-120"/>
              </a:rPr>
              <a:t>IS 107 – Business Intelligence</a:t>
            </a:r>
            <a:endParaRPr lang="en-US" sz="1000" dirty="0"/>
          </a:p>
        </p:txBody>
      </p:sp>
      <p:sp>
        <p:nvSpPr>
          <p:cNvPr id="8" name="Text 6"/>
          <p:cNvSpPr/>
          <p:nvPr/>
        </p:nvSpPr>
        <p:spPr>
          <a:xfrm>
            <a:off x="228600" y="3703320"/>
            <a:ext cx="3017520" cy="228600"/>
          </a:xfrm>
          <a:prstGeom prst="rect">
            <a:avLst/>
          </a:prstGeom>
          <a:noFill/>
          <a:ln/>
        </p:spPr>
        <p:txBody>
          <a:bodyPr wrap="square" lIns="0" tIns="0" rIns="0" bIns="0" rtlCol="0" anchor="ctr"/>
          <a:lstStyle/>
          <a:p>
            <a:pPr indent="0" marL="0">
              <a:buNone/>
            </a:pPr>
            <a:r>
              <a:rPr lang="en-US" sz="850" i="1" dirty="0">
                <a:solidFill>
                  <a:srgbClr val="6A90B0"/>
                </a:solidFill>
                <a:latin typeface="Calibri" pitchFamily="34" charset="0"/>
                <a:ea typeface="Calibri" pitchFamily="34" charset="-122"/>
                <a:cs typeface="Calibri" pitchFamily="34" charset="-120"/>
              </a:rPr>
              <a:t>Submitted by:</a:t>
            </a:r>
            <a:endParaRPr lang="en-US" sz="850" dirty="0"/>
          </a:p>
        </p:txBody>
      </p:sp>
      <p:sp>
        <p:nvSpPr>
          <p:cNvPr id="9" name="Text 7"/>
          <p:cNvSpPr/>
          <p:nvPr/>
        </p:nvSpPr>
        <p:spPr>
          <a:xfrm>
            <a:off x="228600" y="3913632"/>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Edmundo C. Ederio Jr</a:t>
            </a:r>
            <a:endParaRPr lang="en-US" sz="1100" dirty="0"/>
          </a:p>
        </p:txBody>
      </p:sp>
      <p:sp>
        <p:nvSpPr>
          <p:cNvPr id="10" name="Text 8"/>
          <p:cNvSpPr/>
          <p:nvPr/>
        </p:nvSpPr>
        <p:spPr>
          <a:xfrm>
            <a:off x="228600" y="4224528"/>
            <a:ext cx="3017520" cy="228600"/>
          </a:xfrm>
          <a:prstGeom prst="rect">
            <a:avLst/>
          </a:prstGeom>
          <a:noFill/>
          <a:ln/>
        </p:spPr>
        <p:txBody>
          <a:bodyPr wrap="square" lIns="0" tIns="0" rIns="0" bIns="0" rtlCol="0" anchor="ctr"/>
          <a:lstStyle/>
          <a:p>
            <a:pPr indent="0" marL="0">
              <a:buNone/>
            </a:pPr>
            <a:r>
              <a:rPr lang="en-US" sz="900" dirty="0">
                <a:solidFill>
                  <a:srgbClr val="6A90B0"/>
                </a:solidFill>
                <a:latin typeface="Calibri" pitchFamily="34" charset="0"/>
                <a:ea typeface="Calibri" pitchFamily="34" charset="-122"/>
                <a:cs typeface="Calibri" pitchFamily="34" charset="-120"/>
              </a:rPr>
              <a:t>Instructor: Joseph A. Vistal</a:t>
            </a:r>
            <a:endParaRPr lang="en-US" sz="900" dirty="0"/>
          </a:p>
        </p:txBody>
      </p:sp>
      <p:sp>
        <p:nvSpPr>
          <p:cNvPr id="11" name="Text 9"/>
          <p:cNvSpPr/>
          <p:nvPr/>
        </p:nvSpPr>
        <p:spPr>
          <a:xfrm>
            <a:off x="3794760" y="1005840"/>
            <a:ext cx="507492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End-to-End Data Analytics in Power BI</a:t>
            </a:r>
            <a:endParaRPr lang="en-US" sz="2600" dirty="0"/>
          </a:p>
        </p:txBody>
      </p:sp>
      <p:sp>
        <p:nvSpPr>
          <p:cNvPr id="12" name="Text 10"/>
          <p:cNvSpPr/>
          <p:nvPr/>
        </p:nvSpPr>
        <p:spPr>
          <a:xfrm>
            <a:off x="3794760" y="1920240"/>
            <a:ext cx="5074920" cy="502920"/>
          </a:xfrm>
          <a:prstGeom prst="rect">
            <a:avLst/>
          </a:prstGeom>
          <a:noFill/>
          <a:ln/>
        </p:spPr>
        <p:txBody>
          <a:bodyPr wrap="square" lIns="0" tIns="0" rIns="0" bIns="0" rtlCol="0" anchor="ctr"/>
          <a:lstStyle/>
          <a:p>
            <a:pPr indent="0" marL="0">
              <a:buNone/>
            </a:pPr>
            <a:r>
              <a:rPr lang="en-US" sz="1600" i="1" dirty="0">
                <a:solidFill>
                  <a:srgbClr val="E8920A"/>
                </a:solidFill>
                <a:latin typeface="Calibri" pitchFamily="34" charset="0"/>
                <a:ea typeface="Calibri" pitchFamily="34" charset="-122"/>
                <a:cs typeface="Calibri" pitchFamily="34" charset="-120"/>
              </a:rPr>
              <a:t>From Data Cleaning to DAX Insights</a:t>
            </a:r>
            <a:endParaRPr lang="en-US" sz="1600" dirty="0"/>
          </a:p>
        </p:txBody>
      </p:sp>
      <p:sp>
        <p:nvSpPr>
          <p:cNvPr id="13" name="Shape 11"/>
          <p:cNvSpPr/>
          <p:nvPr/>
        </p:nvSpPr>
        <p:spPr>
          <a:xfrm>
            <a:off x="3794760" y="2880360"/>
            <a:ext cx="5029200" cy="475488"/>
          </a:xfrm>
          <a:prstGeom prst="rect">
            <a:avLst/>
          </a:prstGeom>
          <a:solidFill>
            <a:srgbClr val="1E3A5F"/>
          </a:solidFill>
          <a:ln w="9525">
            <a:solidFill>
              <a:srgbClr val="2A4F7A"/>
            </a:solidFill>
            <a:prstDash val="solid"/>
          </a:ln>
        </p:spPr>
      </p:sp>
      <p:sp>
        <p:nvSpPr>
          <p:cNvPr id="14" name="Shape 12"/>
          <p:cNvSpPr/>
          <p:nvPr/>
        </p:nvSpPr>
        <p:spPr>
          <a:xfrm>
            <a:off x="3794760" y="2880360"/>
            <a:ext cx="54864" cy="475488"/>
          </a:xfrm>
          <a:prstGeom prst="rect">
            <a:avLst/>
          </a:prstGeom>
          <a:solidFill>
            <a:srgbClr val="E8920A"/>
          </a:solidFill>
          <a:ln w="12700">
            <a:solidFill>
              <a:srgbClr val="E8920A"/>
            </a:solidFill>
            <a:prstDash val="solid"/>
          </a:ln>
        </p:spPr>
      </p:sp>
      <p:sp>
        <p:nvSpPr>
          <p:cNvPr id="15" name="Text 13"/>
          <p:cNvSpPr/>
          <p:nvPr/>
        </p:nvSpPr>
        <p:spPr>
          <a:xfrm>
            <a:off x="3913632" y="2926080"/>
            <a:ext cx="640080" cy="201168"/>
          </a:xfrm>
          <a:prstGeom prst="rect">
            <a:avLst/>
          </a:prstGeom>
          <a:noFill/>
          <a:ln/>
        </p:spPr>
        <p:txBody>
          <a:bodyPr wrap="square" lIns="0" tIns="0" rIns="0" bIns="0" rtlCol="0" anchor="ctr"/>
          <a:lstStyle/>
          <a:p>
            <a:pPr indent="0" marL="0">
              <a:buNone/>
            </a:pPr>
            <a:r>
              <a:rPr lang="en-US" sz="900" b="1" dirty="0">
                <a:solidFill>
                  <a:srgbClr val="E8920A"/>
                </a:solidFill>
                <a:latin typeface="Calibri" pitchFamily="34" charset="0"/>
                <a:ea typeface="Calibri" pitchFamily="34" charset="-122"/>
                <a:cs typeface="Calibri" pitchFamily="34" charset="-120"/>
              </a:rPr>
              <a:t>Part A</a:t>
            </a:r>
            <a:endParaRPr lang="en-US" sz="900" dirty="0"/>
          </a:p>
        </p:txBody>
      </p:sp>
      <p:sp>
        <p:nvSpPr>
          <p:cNvPr id="16" name="Text 14"/>
          <p:cNvSpPr/>
          <p:nvPr/>
        </p:nvSpPr>
        <p:spPr>
          <a:xfrm>
            <a:off x="3913632" y="3108960"/>
            <a:ext cx="4754880" cy="201168"/>
          </a:xfrm>
          <a:prstGeom prst="rect">
            <a:avLst/>
          </a:prstGeom>
          <a:noFill/>
          <a:ln/>
        </p:spPr>
        <p:txBody>
          <a:bodyPr wrap="square" lIns="0" tIns="0" rIns="0" bIns="0" rtlCol="0" anchor="ctr"/>
          <a:lstStyle/>
          <a:p>
            <a:pPr indent="0" marL="0">
              <a:buNone/>
            </a:pPr>
            <a:r>
              <a:rPr lang="en-US" sz="1000" dirty="0">
                <a:solidFill>
                  <a:srgbClr val="A0C0D8"/>
                </a:solidFill>
                <a:latin typeface="Calibri" pitchFamily="34" charset="0"/>
                <a:ea typeface="Calibri" pitchFamily="34" charset="-122"/>
                <a:cs typeface="Calibri" pitchFamily="34" charset="-120"/>
              </a:rPr>
              <a:t>Data Cleaning in Power Query</a:t>
            </a:r>
            <a:endParaRPr lang="en-US" sz="1000" dirty="0"/>
          </a:p>
        </p:txBody>
      </p:sp>
      <p:sp>
        <p:nvSpPr>
          <p:cNvPr id="17" name="Shape 15"/>
          <p:cNvSpPr/>
          <p:nvPr/>
        </p:nvSpPr>
        <p:spPr>
          <a:xfrm>
            <a:off x="3794760" y="3502152"/>
            <a:ext cx="5029200" cy="475488"/>
          </a:xfrm>
          <a:prstGeom prst="rect">
            <a:avLst/>
          </a:prstGeom>
          <a:solidFill>
            <a:srgbClr val="1E3A5F"/>
          </a:solidFill>
          <a:ln w="9525">
            <a:solidFill>
              <a:srgbClr val="2A4F7A"/>
            </a:solidFill>
            <a:prstDash val="solid"/>
          </a:ln>
        </p:spPr>
      </p:sp>
      <p:sp>
        <p:nvSpPr>
          <p:cNvPr id="18" name="Shape 16"/>
          <p:cNvSpPr/>
          <p:nvPr/>
        </p:nvSpPr>
        <p:spPr>
          <a:xfrm>
            <a:off x="3794760" y="3502152"/>
            <a:ext cx="54864" cy="475488"/>
          </a:xfrm>
          <a:prstGeom prst="rect">
            <a:avLst/>
          </a:prstGeom>
          <a:solidFill>
            <a:srgbClr val="E8920A"/>
          </a:solidFill>
          <a:ln w="12700">
            <a:solidFill>
              <a:srgbClr val="E8920A"/>
            </a:solidFill>
            <a:prstDash val="solid"/>
          </a:ln>
        </p:spPr>
      </p:sp>
      <p:sp>
        <p:nvSpPr>
          <p:cNvPr id="19" name="Text 17"/>
          <p:cNvSpPr/>
          <p:nvPr/>
        </p:nvSpPr>
        <p:spPr>
          <a:xfrm>
            <a:off x="3913632" y="3547872"/>
            <a:ext cx="640080" cy="201168"/>
          </a:xfrm>
          <a:prstGeom prst="rect">
            <a:avLst/>
          </a:prstGeom>
          <a:noFill/>
          <a:ln/>
        </p:spPr>
        <p:txBody>
          <a:bodyPr wrap="square" lIns="0" tIns="0" rIns="0" bIns="0" rtlCol="0" anchor="ctr"/>
          <a:lstStyle/>
          <a:p>
            <a:pPr indent="0" marL="0">
              <a:buNone/>
            </a:pPr>
            <a:r>
              <a:rPr lang="en-US" sz="900" b="1" dirty="0">
                <a:solidFill>
                  <a:srgbClr val="E8920A"/>
                </a:solidFill>
                <a:latin typeface="Calibri" pitchFamily="34" charset="0"/>
                <a:ea typeface="Calibri" pitchFamily="34" charset="-122"/>
                <a:cs typeface="Calibri" pitchFamily="34" charset="-120"/>
              </a:rPr>
              <a:t>Part B</a:t>
            </a:r>
            <a:endParaRPr lang="en-US" sz="900" dirty="0"/>
          </a:p>
        </p:txBody>
      </p:sp>
      <p:sp>
        <p:nvSpPr>
          <p:cNvPr id="20" name="Text 18"/>
          <p:cNvSpPr/>
          <p:nvPr/>
        </p:nvSpPr>
        <p:spPr>
          <a:xfrm>
            <a:off x="3913632" y="3730752"/>
            <a:ext cx="4754880" cy="201168"/>
          </a:xfrm>
          <a:prstGeom prst="rect">
            <a:avLst/>
          </a:prstGeom>
          <a:noFill/>
          <a:ln/>
        </p:spPr>
        <p:txBody>
          <a:bodyPr wrap="square" lIns="0" tIns="0" rIns="0" bIns="0" rtlCol="0" anchor="ctr"/>
          <a:lstStyle/>
          <a:p>
            <a:pPr indent="0" marL="0">
              <a:buNone/>
            </a:pPr>
            <a:r>
              <a:rPr lang="en-US" sz="1000" dirty="0">
                <a:solidFill>
                  <a:srgbClr val="A0C0D8"/>
                </a:solidFill>
                <a:latin typeface="Calibri" pitchFamily="34" charset="0"/>
                <a:ea typeface="Calibri" pitchFamily="34" charset="-122"/>
                <a:cs typeface="Calibri" pitchFamily="34" charset="-120"/>
              </a:rPr>
              <a:t>Merge &amp; Append Queries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Step 1 – Open Power Query Editor</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STEP 1</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Click Home → Get Data → Excel Workbook → select file → Transform Data</a:t>
            </a:r>
            <a:endParaRPr lang="en-US" sz="900" dirty="0"/>
          </a:p>
        </p:txBody>
      </p:sp>
      <p:sp>
        <p:nvSpPr>
          <p:cNvPr id="10" name="Shape 8"/>
          <p:cNvSpPr/>
          <p:nvPr/>
        </p:nvSpPr>
        <p:spPr>
          <a:xfrm>
            <a:off x="1294089" y="1234440"/>
            <a:ext cx="6647262" cy="374904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1248369" y="1188720"/>
            <a:ext cx="6647262" cy="3749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Step 2 – Remove Duplicates</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STEP 2</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Select OrderID column → Home → Remove Rows → Remove Duplicates</a:t>
            </a:r>
            <a:endParaRPr lang="en-US" sz="900" dirty="0"/>
          </a:p>
        </p:txBody>
      </p:sp>
      <p:sp>
        <p:nvSpPr>
          <p:cNvPr id="10" name="Shape 8"/>
          <p:cNvSpPr/>
          <p:nvPr/>
        </p:nvSpPr>
        <p:spPr>
          <a:xfrm>
            <a:off x="1156928" y="1234440"/>
            <a:ext cx="6921584" cy="374904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1111208" y="1188720"/>
            <a:ext cx="6921584" cy="3749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Step 3 – Handle Missing Values</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STEP 3</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Replace null values in critical columns with 0 or 'unknown'</a:t>
            </a:r>
            <a:endParaRPr lang="en-US" sz="900" dirty="0"/>
          </a:p>
        </p:txBody>
      </p:sp>
      <p:sp>
        <p:nvSpPr>
          <p:cNvPr id="10" name="Shape 8"/>
          <p:cNvSpPr/>
          <p:nvPr/>
        </p:nvSpPr>
        <p:spPr>
          <a:xfrm>
            <a:off x="310896" y="1225296"/>
            <a:ext cx="2606040" cy="1413654"/>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274320" y="1188720"/>
            <a:ext cx="2606040" cy="1413654"/>
          </a:xfrm>
          <a:prstGeom prst="rect">
            <a:avLst/>
          </a:prstGeom>
        </p:spPr>
      </p:pic>
      <p:sp>
        <p:nvSpPr>
          <p:cNvPr id="12" name="Shape 9"/>
          <p:cNvSpPr/>
          <p:nvPr/>
        </p:nvSpPr>
        <p:spPr>
          <a:xfrm>
            <a:off x="3099816" y="1225296"/>
            <a:ext cx="2606040" cy="1413654"/>
          </a:xfrm>
          <a:prstGeom prst="rect">
            <a:avLst/>
          </a:prstGeom>
          <a:solidFill>
            <a:srgbClr val="94A3B8">
              <a:alpha val="30000"/>
            </a:srgbClr>
          </a:solidFill>
          <a:ln w="12700">
            <a:solidFill>
              <a:srgbClr val="94A3B8">
                <a:alpha val="30000"/>
              </a:srgbClr>
            </a:solidFill>
            <a:prstDash val="solid"/>
          </a:ln>
        </p:spPr>
      </p:sp>
      <p:pic>
        <p:nvPicPr>
          <p:cNvPr id="13" name="Image 1" descr="preencoded.png">    </p:cNvPr>
          <p:cNvPicPr>
            <a:picLocks noChangeAspect="1"/>
          </p:cNvPicPr>
          <p:nvPr/>
        </p:nvPicPr>
        <p:blipFill>
          <a:blip r:embed="rId2"/>
          <a:stretch>
            <a:fillRect/>
          </a:stretch>
        </p:blipFill>
        <p:spPr>
          <a:xfrm>
            <a:off x="3063240" y="1188720"/>
            <a:ext cx="2606040" cy="1413654"/>
          </a:xfrm>
          <a:prstGeom prst="rect">
            <a:avLst/>
          </a:prstGeom>
        </p:spPr>
      </p:pic>
      <p:sp>
        <p:nvSpPr>
          <p:cNvPr id="14" name="Shape 10"/>
          <p:cNvSpPr/>
          <p:nvPr/>
        </p:nvSpPr>
        <p:spPr>
          <a:xfrm>
            <a:off x="5888736" y="1225296"/>
            <a:ext cx="2606040" cy="1469800"/>
          </a:xfrm>
          <a:prstGeom prst="rect">
            <a:avLst/>
          </a:prstGeom>
          <a:solidFill>
            <a:srgbClr val="94A3B8">
              <a:alpha val="30000"/>
            </a:srgbClr>
          </a:solidFill>
          <a:ln w="12700">
            <a:solidFill>
              <a:srgbClr val="94A3B8">
                <a:alpha val="30000"/>
              </a:srgbClr>
            </a:solidFill>
            <a:prstDash val="solid"/>
          </a:ln>
        </p:spPr>
      </p:sp>
      <p:pic>
        <p:nvPicPr>
          <p:cNvPr id="15" name="Image 2" descr="preencoded.png">    </p:cNvPr>
          <p:cNvPicPr>
            <a:picLocks noChangeAspect="1"/>
          </p:cNvPicPr>
          <p:nvPr/>
        </p:nvPicPr>
        <p:blipFill>
          <a:blip r:embed="rId3"/>
          <a:stretch>
            <a:fillRect/>
          </a:stretch>
        </p:blipFill>
        <p:spPr>
          <a:xfrm>
            <a:off x="5852160" y="1188720"/>
            <a:ext cx="2606040" cy="1469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Step 4 – Fix Date Formats &amp; Data Types</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STEP 4</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Set OrderDate → Date type  |  Set SalesAmount → Decimal Number</a:t>
            </a:r>
            <a:endParaRPr lang="en-US" sz="900" dirty="0"/>
          </a:p>
        </p:txBody>
      </p:sp>
      <p:sp>
        <p:nvSpPr>
          <p:cNvPr id="10" name="Shape 8"/>
          <p:cNvSpPr/>
          <p:nvPr/>
        </p:nvSpPr>
        <p:spPr>
          <a:xfrm>
            <a:off x="310896" y="1225296"/>
            <a:ext cx="4023360" cy="2240739"/>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274320" y="1188720"/>
            <a:ext cx="4023360" cy="2240739"/>
          </a:xfrm>
          <a:prstGeom prst="rect">
            <a:avLst/>
          </a:prstGeom>
        </p:spPr>
      </p:pic>
      <p:sp>
        <p:nvSpPr>
          <p:cNvPr id="12" name="Shape 9"/>
          <p:cNvSpPr/>
          <p:nvPr/>
        </p:nvSpPr>
        <p:spPr>
          <a:xfrm>
            <a:off x="4562856" y="1225296"/>
            <a:ext cx="4023360" cy="2235462"/>
          </a:xfrm>
          <a:prstGeom prst="rect">
            <a:avLst/>
          </a:prstGeom>
          <a:solidFill>
            <a:srgbClr val="94A3B8">
              <a:alpha val="30000"/>
            </a:srgbClr>
          </a:solidFill>
          <a:ln w="12700">
            <a:solidFill>
              <a:srgbClr val="94A3B8">
                <a:alpha val="30000"/>
              </a:srgbClr>
            </a:solidFill>
            <a:prstDash val="solid"/>
          </a:ln>
        </p:spPr>
      </p:sp>
      <p:pic>
        <p:nvPicPr>
          <p:cNvPr id="13" name="Image 1" descr="preencoded.png">    </p:cNvPr>
          <p:cNvPicPr>
            <a:picLocks noChangeAspect="1"/>
          </p:cNvPicPr>
          <p:nvPr/>
        </p:nvPicPr>
        <p:blipFill>
          <a:blip r:embed="rId2"/>
          <a:stretch>
            <a:fillRect/>
          </a:stretch>
        </p:blipFill>
        <p:spPr>
          <a:xfrm>
            <a:off x="4526280" y="1188720"/>
            <a:ext cx="4023360" cy="22354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Step 5 – Rename Columns (snake_case)</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STEP 5</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Right-click each column → Rename → use snake_case (e.g. order_id, sales_amount)</a:t>
            </a:r>
            <a:endParaRPr lang="en-US" sz="900" dirty="0"/>
          </a:p>
        </p:txBody>
      </p:sp>
      <p:sp>
        <p:nvSpPr>
          <p:cNvPr id="10" name="Shape 8"/>
          <p:cNvSpPr/>
          <p:nvPr/>
        </p:nvSpPr>
        <p:spPr>
          <a:xfrm>
            <a:off x="1276270" y="1234440"/>
            <a:ext cx="6682900" cy="374904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1230550" y="1188720"/>
            <a:ext cx="6682900" cy="3749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Applied Steps Pane – Full Transformation Pipeline</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371600" cy="320040"/>
          </a:xfrm>
          <a:prstGeom prst="rect">
            <a:avLst/>
          </a:prstGeom>
          <a:solidFill>
            <a:srgbClr val="1B2E4B"/>
          </a:solidFill>
          <a:ln w="12700">
            <a:solidFill>
              <a:srgbClr val="1B2E4B"/>
            </a:solidFill>
            <a:prstDash val="solid"/>
          </a:ln>
        </p:spPr>
      </p:sp>
      <p:sp>
        <p:nvSpPr>
          <p:cNvPr id="8" name="Text 6"/>
          <p:cNvSpPr/>
          <p:nvPr/>
        </p:nvSpPr>
        <p:spPr>
          <a:xfrm>
            <a:off x="274320" y="777240"/>
            <a:ext cx="137160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TRANSFORMATION LOG</a:t>
            </a:r>
            <a:endParaRPr lang="en-US" sz="800" dirty="0"/>
          </a:p>
        </p:txBody>
      </p:sp>
      <p:sp>
        <p:nvSpPr>
          <p:cNvPr id="9" name="Text 7"/>
          <p:cNvSpPr/>
          <p:nvPr/>
        </p:nvSpPr>
        <p:spPr>
          <a:xfrm>
            <a:off x="1783080" y="804672"/>
            <a:ext cx="704088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Every step recorded as reproducible M code in the Applied Steps pane</a:t>
            </a:r>
            <a:endParaRPr lang="en-US" sz="900" dirty="0"/>
          </a:p>
        </p:txBody>
      </p:sp>
      <p:sp>
        <p:nvSpPr>
          <p:cNvPr id="10" name="Shape 8"/>
          <p:cNvSpPr/>
          <p:nvPr/>
        </p:nvSpPr>
        <p:spPr>
          <a:xfrm>
            <a:off x="310896" y="1188720"/>
            <a:ext cx="1685260" cy="365760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274320" y="1188720"/>
            <a:ext cx="1685260" cy="3657600"/>
          </a:xfrm>
          <a:prstGeom prst="rect">
            <a:avLst/>
          </a:prstGeom>
        </p:spPr>
      </p:pic>
      <p:sp>
        <p:nvSpPr>
          <p:cNvPr id="12" name="Shape 9"/>
          <p:cNvSpPr/>
          <p:nvPr/>
        </p:nvSpPr>
        <p:spPr>
          <a:xfrm>
            <a:off x="2224756" y="1188720"/>
            <a:ext cx="1685260" cy="3657600"/>
          </a:xfrm>
          <a:prstGeom prst="rect">
            <a:avLst/>
          </a:prstGeom>
          <a:solidFill>
            <a:srgbClr val="94A3B8">
              <a:alpha val="30000"/>
            </a:srgbClr>
          </a:solidFill>
          <a:ln w="12700">
            <a:solidFill>
              <a:srgbClr val="94A3B8">
                <a:alpha val="30000"/>
              </a:srgbClr>
            </a:solidFill>
            <a:prstDash val="solid"/>
          </a:ln>
        </p:spPr>
      </p:sp>
      <p:pic>
        <p:nvPicPr>
          <p:cNvPr id="13" name="Image 1" descr="preencoded.png">    </p:cNvPr>
          <p:cNvPicPr>
            <a:picLocks noChangeAspect="1"/>
          </p:cNvPicPr>
          <p:nvPr/>
        </p:nvPicPr>
        <p:blipFill>
          <a:blip r:embed="rId2"/>
          <a:stretch>
            <a:fillRect/>
          </a:stretch>
        </p:blipFill>
        <p:spPr>
          <a:xfrm>
            <a:off x="2188180" y="1188720"/>
            <a:ext cx="1685260" cy="3657600"/>
          </a:xfrm>
          <a:prstGeom prst="rect">
            <a:avLst/>
          </a:prstGeom>
        </p:spPr>
      </p:pic>
      <p:sp>
        <p:nvSpPr>
          <p:cNvPr id="14" name="Shape 10"/>
          <p:cNvSpPr/>
          <p:nvPr/>
        </p:nvSpPr>
        <p:spPr>
          <a:xfrm>
            <a:off x="4138617" y="1188720"/>
            <a:ext cx="1685260" cy="3657600"/>
          </a:xfrm>
          <a:prstGeom prst="rect">
            <a:avLst/>
          </a:prstGeom>
          <a:solidFill>
            <a:srgbClr val="94A3B8">
              <a:alpha val="30000"/>
            </a:srgbClr>
          </a:solidFill>
          <a:ln w="12700">
            <a:solidFill>
              <a:srgbClr val="94A3B8">
                <a:alpha val="30000"/>
              </a:srgbClr>
            </a:solidFill>
            <a:prstDash val="solid"/>
          </a:ln>
        </p:spPr>
      </p:sp>
      <p:pic>
        <p:nvPicPr>
          <p:cNvPr id="15" name="Image 2" descr="preencoded.png">    </p:cNvPr>
          <p:cNvPicPr>
            <a:picLocks noChangeAspect="1"/>
          </p:cNvPicPr>
          <p:nvPr/>
        </p:nvPicPr>
        <p:blipFill>
          <a:blip r:embed="rId3"/>
          <a:stretch>
            <a:fillRect/>
          </a:stretch>
        </p:blipFill>
        <p:spPr>
          <a:xfrm>
            <a:off x="4102041" y="1188720"/>
            <a:ext cx="1685260" cy="3657600"/>
          </a:xfrm>
          <a:prstGeom prst="rect">
            <a:avLst/>
          </a:prstGeom>
        </p:spPr>
      </p:pic>
      <p:sp>
        <p:nvSpPr>
          <p:cNvPr id="16" name="Shape 11"/>
          <p:cNvSpPr/>
          <p:nvPr/>
        </p:nvSpPr>
        <p:spPr>
          <a:xfrm>
            <a:off x="6107341" y="1188720"/>
            <a:ext cx="2762339" cy="3566160"/>
          </a:xfrm>
          <a:prstGeom prst="rect">
            <a:avLst/>
          </a:prstGeom>
          <a:solidFill>
            <a:srgbClr val="1B2E4B"/>
          </a:solidFill>
          <a:ln w="12700">
            <a:solidFill>
              <a:srgbClr val="1B2E4B"/>
            </a:solidFill>
            <a:prstDash val="solid"/>
          </a:ln>
          <a:effectLst>
            <a:outerShdw sx="100000" sy="100000" kx="0" ky="0" algn="bl" rotWithShape="0" blurRad="76200" dist="38100" dir="8100000">
              <a:srgbClr val="94A3B8">
                <a:alpha val="18000"/>
              </a:srgbClr>
            </a:outerShdw>
          </a:effectLst>
        </p:spPr>
      </p:sp>
      <p:sp>
        <p:nvSpPr>
          <p:cNvPr id="17" name="Shape 12"/>
          <p:cNvSpPr/>
          <p:nvPr/>
        </p:nvSpPr>
        <p:spPr>
          <a:xfrm>
            <a:off x="6107341" y="1188720"/>
            <a:ext cx="64008" cy="3566160"/>
          </a:xfrm>
          <a:prstGeom prst="rect">
            <a:avLst/>
          </a:prstGeom>
          <a:solidFill>
            <a:srgbClr val="E8920A"/>
          </a:solidFill>
          <a:ln w="12700">
            <a:solidFill>
              <a:srgbClr val="E8920A"/>
            </a:solidFill>
            <a:prstDash val="solid"/>
          </a:ln>
        </p:spPr>
      </p:sp>
      <p:sp>
        <p:nvSpPr>
          <p:cNvPr id="18" name="Text 13"/>
          <p:cNvSpPr/>
          <p:nvPr/>
        </p:nvSpPr>
        <p:spPr>
          <a:xfrm>
            <a:off x="6290221" y="1280160"/>
            <a:ext cx="2488019" cy="274320"/>
          </a:xfrm>
          <a:prstGeom prst="rect">
            <a:avLst/>
          </a:prstGeom>
          <a:noFill/>
          <a:ln/>
        </p:spPr>
        <p:txBody>
          <a:bodyPr wrap="square" lIns="0" tIns="0" rIns="0" bIns="0" rtlCol="0" anchor="ctr"/>
          <a:lstStyle/>
          <a:p>
            <a:pPr indent="0" marL="0">
              <a:buNone/>
            </a:pPr>
            <a:r>
              <a:rPr lang="en-US" sz="900" b="1" dirty="0">
                <a:solidFill>
                  <a:srgbClr val="E8920A"/>
                </a:solidFill>
                <a:latin typeface="Calibri" pitchFamily="34" charset="0"/>
                <a:ea typeface="Calibri" pitchFamily="34" charset="-122"/>
                <a:cs typeface="Calibri" pitchFamily="34" charset="-120"/>
              </a:rPr>
              <a:t>M CODE STEPS</a:t>
            </a:r>
            <a:endParaRPr lang="en-US" sz="900" dirty="0"/>
          </a:p>
        </p:txBody>
      </p:sp>
      <p:sp>
        <p:nvSpPr>
          <p:cNvPr id="19" name="Shape 14"/>
          <p:cNvSpPr/>
          <p:nvPr/>
        </p:nvSpPr>
        <p:spPr>
          <a:xfrm>
            <a:off x="6244501" y="1664208"/>
            <a:ext cx="2488019" cy="292608"/>
          </a:xfrm>
          <a:prstGeom prst="rect">
            <a:avLst/>
          </a:prstGeom>
          <a:solidFill>
            <a:srgbClr val="1E3A5F"/>
          </a:solidFill>
          <a:ln w="6350">
            <a:solidFill>
              <a:srgbClr val="2A4F7A"/>
            </a:solidFill>
            <a:prstDash val="solid"/>
          </a:ln>
        </p:spPr>
      </p:sp>
      <p:sp>
        <p:nvSpPr>
          <p:cNvPr id="20" name="Text 15"/>
          <p:cNvSpPr/>
          <p:nvPr/>
        </p:nvSpPr>
        <p:spPr>
          <a:xfrm>
            <a:off x="6308509" y="1664208"/>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1.  Source</a:t>
            </a:r>
            <a:endParaRPr lang="en-US" sz="900" dirty="0"/>
          </a:p>
        </p:txBody>
      </p:sp>
      <p:sp>
        <p:nvSpPr>
          <p:cNvPr id="21" name="Shape 16"/>
          <p:cNvSpPr/>
          <p:nvPr/>
        </p:nvSpPr>
        <p:spPr>
          <a:xfrm>
            <a:off x="6244501" y="2048256"/>
            <a:ext cx="2488019" cy="292608"/>
          </a:xfrm>
          <a:prstGeom prst="rect">
            <a:avLst/>
          </a:prstGeom>
          <a:solidFill>
            <a:srgbClr val="1E3A5F"/>
          </a:solidFill>
          <a:ln w="6350">
            <a:solidFill>
              <a:srgbClr val="2A4F7A"/>
            </a:solidFill>
            <a:prstDash val="solid"/>
          </a:ln>
        </p:spPr>
      </p:sp>
      <p:sp>
        <p:nvSpPr>
          <p:cNvPr id="22" name="Text 17"/>
          <p:cNvSpPr/>
          <p:nvPr/>
        </p:nvSpPr>
        <p:spPr>
          <a:xfrm>
            <a:off x="6308509" y="2048256"/>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2.  Navigation</a:t>
            </a:r>
            <a:endParaRPr lang="en-US" sz="900" dirty="0"/>
          </a:p>
        </p:txBody>
      </p:sp>
      <p:sp>
        <p:nvSpPr>
          <p:cNvPr id="23" name="Shape 18"/>
          <p:cNvSpPr/>
          <p:nvPr/>
        </p:nvSpPr>
        <p:spPr>
          <a:xfrm>
            <a:off x="6244501" y="2432304"/>
            <a:ext cx="2488019" cy="292608"/>
          </a:xfrm>
          <a:prstGeom prst="rect">
            <a:avLst/>
          </a:prstGeom>
          <a:solidFill>
            <a:srgbClr val="1E3A5F"/>
          </a:solidFill>
          <a:ln w="6350">
            <a:solidFill>
              <a:srgbClr val="2A4F7A"/>
            </a:solidFill>
            <a:prstDash val="solid"/>
          </a:ln>
        </p:spPr>
      </p:sp>
      <p:sp>
        <p:nvSpPr>
          <p:cNvPr id="24" name="Text 19"/>
          <p:cNvSpPr/>
          <p:nvPr/>
        </p:nvSpPr>
        <p:spPr>
          <a:xfrm>
            <a:off x="6308509" y="2432304"/>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3.  Promoted Headers</a:t>
            </a:r>
            <a:endParaRPr lang="en-US" sz="900" dirty="0"/>
          </a:p>
        </p:txBody>
      </p:sp>
      <p:sp>
        <p:nvSpPr>
          <p:cNvPr id="25" name="Shape 20"/>
          <p:cNvSpPr/>
          <p:nvPr/>
        </p:nvSpPr>
        <p:spPr>
          <a:xfrm>
            <a:off x="6244501" y="2816352"/>
            <a:ext cx="2488019" cy="292608"/>
          </a:xfrm>
          <a:prstGeom prst="rect">
            <a:avLst/>
          </a:prstGeom>
          <a:solidFill>
            <a:srgbClr val="1E3A5F"/>
          </a:solidFill>
          <a:ln w="6350">
            <a:solidFill>
              <a:srgbClr val="2A4F7A"/>
            </a:solidFill>
            <a:prstDash val="solid"/>
          </a:ln>
        </p:spPr>
      </p:sp>
      <p:sp>
        <p:nvSpPr>
          <p:cNvPr id="26" name="Text 21"/>
          <p:cNvSpPr/>
          <p:nvPr/>
        </p:nvSpPr>
        <p:spPr>
          <a:xfrm>
            <a:off x="6308509" y="2816352"/>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4.  Changed Type</a:t>
            </a:r>
            <a:endParaRPr lang="en-US" sz="900" dirty="0"/>
          </a:p>
        </p:txBody>
      </p:sp>
      <p:sp>
        <p:nvSpPr>
          <p:cNvPr id="27" name="Shape 22"/>
          <p:cNvSpPr/>
          <p:nvPr/>
        </p:nvSpPr>
        <p:spPr>
          <a:xfrm>
            <a:off x="6244501" y="3200400"/>
            <a:ext cx="2488019" cy="292608"/>
          </a:xfrm>
          <a:prstGeom prst="rect">
            <a:avLst/>
          </a:prstGeom>
          <a:solidFill>
            <a:srgbClr val="1E3A5F"/>
          </a:solidFill>
          <a:ln w="6350">
            <a:solidFill>
              <a:srgbClr val="2A4F7A"/>
            </a:solidFill>
            <a:prstDash val="solid"/>
          </a:ln>
        </p:spPr>
      </p:sp>
      <p:sp>
        <p:nvSpPr>
          <p:cNvPr id="28" name="Text 23"/>
          <p:cNvSpPr/>
          <p:nvPr/>
        </p:nvSpPr>
        <p:spPr>
          <a:xfrm>
            <a:off x="6308509" y="3200400"/>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5.  Removed Duplicates</a:t>
            </a:r>
            <a:endParaRPr lang="en-US" sz="900" dirty="0"/>
          </a:p>
        </p:txBody>
      </p:sp>
      <p:sp>
        <p:nvSpPr>
          <p:cNvPr id="29" name="Shape 24"/>
          <p:cNvSpPr/>
          <p:nvPr/>
        </p:nvSpPr>
        <p:spPr>
          <a:xfrm>
            <a:off x="6244501" y="3584448"/>
            <a:ext cx="2488019" cy="292608"/>
          </a:xfrm>
          <a:prstGeom prst="rect">
            <a:avLst/>
          </a:prstGeom>
          <a:solidFill>
            <a:srgbClr val="1E3A5F"/>
          </a:solidFill>
          <a:ln w="6350">
            <a:solidFill>
              <a:srgbClr val="2A4F7A"/>
            </a:solidFill>
            <a:prstDash val="solid"/>
          </a:ln>
        </p:spPr>
      </p:sp>
      <p:sp>
        <p:nvSpPr>
          <p:cNvPr id="30" name="Text 25"/>
          <p:cNvSpPr/>
          <p:nvPr/>
        </p:nvSpPr>
        <p:spPr>
          <a:xfrm>
            <a:off x="6308509" y="3584448"/>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6.  Replaced Value</a:t>
            </a:r>
            <a:endParaRPr lang="en-US" sz="900" dirty="0"/>
          </a:p>
        </p:txBody>
      </p:sp>
      <p:sp>
        <p:nvSpPr>
          <p:cNvPr id="31" name="Shape 26"/>
          <p:cNvSpPr/>
          <p:nvPr/>
        </p:nvSpPr>
        <p:spPr>
          <a:xfrm>
            <a:off x="6244501" y="3968496"/>
            <a:ext cx="2488019" cy="292608"/>
          </a:xfrm>
          <a:prstGeom prst="rect">
            <a:avLst/>
          </a:prstGeom>
          <a:solidFill>
            <a:srgbClr val="1E3A5F"/>
          </a:solidFill>
          <a:ln w="6350">
            <a:solidFill>
              <a:srgbClr val="2A4F7A"/>
            </a:solidFill>
            <a:prstDash val="solid"/>
          </a:ln>
        </p:spPr>
      </p:sp>
      <p:sp>
        <p:nvSpPr>
          <p:cNvPr id="32" name="Text 27"/>
          <p:cNvSpPr/>
          <p:nvPr/>
        </p:nvSpPr>
        <p:spPr>
          <a:xfrm>
            <a:off x="6308509" y="3968496"/>
            <a:ext cx="2396579" cy="292608"/>
          </a:xfrm>
          <a:prstGeom prst="rect">
            <a:avLst/>
          </a:prstGeom>
          <a:noFill/>
          <a:ln/>
        </p:spPr>
        <p:txBody>
          <a:bodyPr wrap="square" lIns="0" tIns="0" rIns="0" bIns="0" rtlCol="0" anchor="ctr"/>
          <a:lstStyle/>
          <a:p>
            <a:pPr indent="0" marL="0">
              <a:buNone/>
            </a:pPr>
            <a:r>
              <a:rPr lang="en-US" sz="900" dirty="0">
                <a:solidFill>
                  <a:srgbClr val="A0C8E8"/>
                </a:solidFill>
                <a:latin typeface="Calibri" pitchFamily="34" charset="0"/>
                <a:ea typeface="Calibri" pitchFamily="34" charset="-122"/>
                <a:cs typeface="Calibri" pitchFamily="34" charset="-120"/>
              </a:rPr>
              <a:t>7.  Renamed Columns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Close &amp; Apply – Load Cleaned Data into Power BI</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FINAL STEP</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Click Close &amp; Apply to load the cleaned dataset into the Power BI data model</a:t>
            </a:r>
            <a:endParaRPr lang="en-US" sz="900" dirty="0"/>
          </a:p>
        </p:txBody>
      </p:sp>
      <p:sp>
        <p:nvSpPr>
          <p:cNvPr id="10" name="Shape 8"/>
          <p:cNvSpPr/>
          <p:nvPr/>
        </p:nvSpPr>
        <p:spPr>
          <a:xfrm>
            <a:off x="1173834" y="1234440"/>
            <a:ext cx="6887771" cy="374904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1128114" y="1188720"/>
            <a:ext cx="6887771" cy="3749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Guide Questions – Part A: Data Cleaning</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28600" y="804672"/>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8" name="Shape 6"/>
          <p:cNvSpPr/>
          <p:nvPr/>
        </p:nvSpPr>
        <p:spPr>
          <a:xfrm>
            <a:off x="228600" y="804672"/>
            <a:ext cx="4069080" cy="73152"/>
          </a:xfrm>
          <a:prstGeom prst="rect">
            <a:avLst/>
          </a:prstGeom>
          <a:solidFill>
            <a:srgbClr val="E8920A"/>
          </a:solidFill>
          <a:ln w="12700">
            <a:solidFill>
              <a:srgbClr val="E8920A"/>
            </a:solidFill>
            <a:prstDash val="solid"/>
          </a:ln>
        </p:spPr>
      </p:sp>
      <p:sp>
        <p:nvSpPr>
          <p:cNvPr id="9" name="Shape 7"/>
          <p:cNvSpPr/>
          <p:nvPr/>
        </p:nvSpPr>
        <p:spPr>
          <a:xfrm>
            <a:off x="365760" y="950976"/>
            <a:ext cx="347472" cy="347472"/>
          </a:xfrm>
          <a:prstGeom prst="ellipse">
            <a:avLst/>
          </a:prstGeom>
          <a:solidFill>
            <a:srgbClr val="1B2E4B"/>
          </a:solidFill>
          <a:ln w="12700">
            <a:solidFill>
              <a:srgbClr val="1B2E4B"/>
            </a:solidFill>
            <a:prstDash val="solid"/>
          </a:ln>
        </p:spPr>
      </p:sp>
      <p:sp>
        <p:nvSpPr>
          <p:cNvPr id="10" name="Text 8"/>
          <p:cNvSpPr/>
          <p:nvPr/>
        </p:nvSpPr>
        <p:spPr>
          <a:xfrm>
            <a:off x="365760" y="950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22960" y="969264"/>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Why is removing duplicates important?</a:t>
            </a:r>
            <a:endParaRPr lang="en-US" sz="1050" dirty="0"/>
          </a:p>
        </p:txBody>
      </p:sp>
      <p:sp>
        <p:nvSpPr>
          <p:cNvPr id="12" name="Text 10"/>
          <p:cNvSpPr/>
          <p:nvPr/>
        </p:nvSpPr>
        <p:spPr>
          <a:xfrm>
            <a:off x="365760" y="1399032"/>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Duplicate records quietly inflate your numbers. If an order is logged twice, revenue reports lie. Removing them ensures every transaction is counted once.</a:t>
            </a:r>
            <a:endParaRPr lang="en-US" sz="950" dirty="0"/>
          </a:p>
        </p:txBody>
      </p:sp>
      <p:sp>
        <p:nvSpPr>
          <p:cNvPr id="13" name="Shape 11"/>
          <p:cNvSpPr/>
          <p:nvPr/>
        </p:nvSpPr>
        <p:spPr>
          <a:xfrm>
            <a:off x="4526280" y="804672"/>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14" name="Shape 12"/>
          <p:cNvSpPr/>
          <p:nvPr/>
        </p:nvSpPr>
        <p:spPr>
          <a:xfrm>
            <a:off x="4526280" y="804672"/>
            <a:ext cx="4069080" cy="73152"/>
          </a:xfrm>
          <a:prstGeom prst="rect">
            <a:avLst/>
          </a:prstGeom>
          <a:solidFill>
            <a:srgbClr val="E8920A"/>
          </a:solidFill>
          <a:ln w="12700">
            <a:solidFill>
              <a:srgbClr val="E8920A"/>
            </a:solidFill>
            <a:prstDash val="solid"/>
          </a:ln>
        </p:spPr>
      </p:sp>
      <p:sp>
        <p:nvSpPr>
          <p:cNvPr id="15" name="Shape 13"/>
          <p:cNvSpPr/>
          <p:nvPr/>
        </p:nvSpPr>
        <p:spPr>
          <a:xfrm>
            <a:off x="4663440" y="950976"/>
            <a:ext cx="347472" cy="347472"/>
          </a:xfrm>
          <a:prstGeom prst="ellipse">
            <a:avLst/>
          </a:prstGeom>
          <a:solidFill>
            <a:srgbClr val="1B2E4B"/>
          </a:solidFill>
          <a:ln w="12700">
            <a:solidFill>
              <a:srgbClr val="1B2E4B"/>
            </a:solidFill>
            <a:prstDash val="solid"/>
          </a:ln>
        </p:spPr>
      </p:sp>
      <p:sp>
        <p:nvSpPr>
          <p:cNvPr id="16" name="Text 14"/>
          <p:cNvSpPr/>
          <p:nvPr/>
        </p:nvSpPr>
        <p:spPr>
          <a:xfrm>
            <a:off x="4663440" y="950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5120640" y="969264"/>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What problems can missing values cause?</a:t>
            </a:r>
            <a:endParaRPr lang="en-US" sz="1050" dirty="0"/>
          </a:p>
        </p:txBody>
      </p:sp>
      <p:sp>
        <p:nvSpPr>
          <p:cNvPr id="18" name="Text 16"/>
          <p:cNvSpPr/>
          <p:nvPr/>
        </p:nvSpPr>
        <p:spPr>
          <a:xfrm>
            <a:off x="4663440" y="1399032"/>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A null value can make sales vanish from totals with no error. Filling nulls with 0 or 'unknown' keeps dashboards complete and accurate.</a:t>
            </a:r>
            <a:endParaRPr lang="en-US" sz="950" dirty="0"/>
          </a:p>
        </p:txBody>
      </p:sp>
      <p:sp>
        <p:nvSpPr>
          <p:cNvPr id="19" name="Shape 17"/>
          <p:cNvSpPr/>
          <p:nvPr/>
        </p:nvSpPr>
        <p:spPr>
          <a:xfrm>
            <a:off x="228600" y="2660904"/>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0" name="Shape 18"/>
          <p:cNvSpPr/>
          <p:nvPr/>
        </p:nvSpPr>
        <p:spPr>
          <a:xfrm>
            <a:off x="228600" y="2660904"/>
            <a:ext cx="4069080" cy="73152"/>
          </a:xfrm>
          <a:prstGeom prst="rect">
            <a:avLst/>
          </a:prstGeom>
          <a:solidFill>
            <a:srgbClr val="E8920A"/>
          </a:solidFill>
          <a:ln w="12700">
            <a:solidFill>
              <a:srgbClr val="E8920A"/>
            </a:solidFill>
            <a:prstDash val="solid"/>
          </a:ln>
        </p:spPr>
      </p:sp>
      <p:sp>
        <p:nvSpPr>
          <p:cNvPr id="21" name="Shape 19"/>
          <p:cNvSpPr/>
          <p:nvPr/>
        </p:nvSpPr>
        <p:spPr>
          <a:xfrm>
            <a:off x="365760" y="2807208"/>
            <a:ext cx="347472" cy="347472"/>
          </a:xfrm>
          <a:prstGeom prst="ellipse">
            <a:avLst/>
          </a:prstGeom>
          <a:solidFill>
            <a:srgbClr val="1B2E4B"/>
          </a:solidFill>
          <a:ln w="12700">
            <a:solidFill>
              <a:srgbClr val="1B2E4B"/>
            </a:solidFill>
            <a:prstDash val="solid"/>
          </a:ln>
        </p:spPr>
      </p:sp>
      <p:sp>
        <p:nvSpPr>
          <p:cNvPr id="22" name="Text 20"/>
          <p:cNvSpPr/>
          <p:nvPr/>
        </p:nvSpPr>
        <p:spPr>
          <a:xfrm>
            <a:off x="365760" y="2807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22960" y="2825496"/>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How does correct data typing affect calculations?</a:t>
            </a:r>
            <a:endParaRPr lang="en-US" sz="1050" dirty="0"/>
          </a:p>
        </p:txBody>
      </p:sp>
      <p:sp>
        <p:nvSpPr>
          <p:cNvPr id="24" name="Text 22"/>
          <p:cNvSpPr/>
          <p:nvPr/>
        </p:nvSpPr>
        <p:spPr>
          <a:xfrm>
            <a:off x="365760" y="3255264"/>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Data types tell Power BI what it can do with a column. Text-typed numbers simply won't add up. Get types right and calculations just work.</a:t>
            </a:r>
            <a:endParaRPr lang="en-US" sz="950" dirty="0"/>
          </a:p>
        </p:txBody>
      </p:sp>
      <p:sp>
        <p:nvSpPr>
          <p:cNvPr id="25" name="Shape 23"/>
          <p:cNvSpPr/>
          <p:nvPr/>
        </p:nvSpPr>
        <p:spPr>
          <a:xfrm>
            <a:off x="4526280" y="2660904"/>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6" name="Shape 24"/>
          <p:cNvSpPr/>
          <p:nvPr/>
        </p:nvSpPr>
        <p:spPr>
          <a:xfrm>
            <a:off x="4526280" y="2660904"/>
            <a:ext cx="4069080" cy="73152"/>
          </a:xfrm>
          <a:prstGeom prst="rect">
            <a:avLst/>
          </a:prstGeom>
          <a:solidFill>
            <a:srgbClr val="E8920A"/>
          </a:solidFill>
          <a:ln w="12700">
            <a:solidFill>
              <a:srgbClr val="E8920A"/>
            </a:solidFill>
            <a:prstDash val="solid"/>
          </a:ln>
        </p:spPr>
      </p:sp>
      <p:sp>
        <p:nvSpPr>
          <p:cNvPr id="27" name="Shape 25"/>
          <p:cNvSpPr/>
          <p:nvPr/>
        </p:nvSpPr>
        <p:spPr>
          <a:xfrm>
            <a:off x="4663440" y="2807208"/>
            <a:ext cx="347472" cy="347472"/>
          </a:xfrm>
          <a:prstGeom prst="ellipse">
            <a:avLst/>
          </a:prstGeom>
          <a:solidFill>
            <a:srgbClr val="1B2E4B"/>
          </a:solidFill>
          <a:ln w="12700">
            <a:solidFill>
              <a:srgbClr val="1B2E4B"/>
            </a:solidFill>
            <a:prstDash val="solid"/>
          </a:ln>
        </p:spPr>
      </p:sp>
      <p:sp>
        <p:nvSpPr>
          <p:cNvPr id="28" name="Text 26"/>
          <p:cNvSpPr/>
          <p:nvPr/>
        </p:nvSpPr>
        <p:spPr>
          <a:xfrm>
            <a:off x="4663440" y="2807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p:nvPr/>
        </p:nvSpPr>
        <p:spPr>
          <a:xfrm>
            <a:off x="5120640" y="2825496"/>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What naming conventions improve readability?</a:t>
            </a:r>
            <a:endParaRPr lang="en-US" sz="1050" dirty="0"/>
          </a:p>
        </p:txBody>
      </p:sp>
      <p:sp>
        <p:nvSpPr>
          <p:cNvPr id="30" name="Text 28"/>
          <p:cNvSpPr/>
          <p:nvPr/>
        </p:nvSpPr>
        <p:spPr>
          <a:xfrm>
            <a:off x="4663440" y="3255264"/>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snake_case like order_id and total_sales keeps columns consistent. Spaces force brackets in every formula, a small habit that saves big headaches.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Enhancement Activities – Part A</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804672"/>
            <a:ext cx="8595360" cy="12344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8" name="Shape 6"/>
          <p:cNvSpPr/>
          <p:nvPr/>
        </p:nvSpPr>
        <p:spPr>
          <a:xfrm>
            <a:off x="274320" y="804672"/>
            <a:ext cx="64008" cy="1234440"/>
          </a:xfrm>
          <a:prstGeom prst="rect">
            <a:avLst/>
          </a:prstGeom>
          <a:solidFill>
            <a:srgbClr val="E8920A"/>
          </a:solidFill>
          <a:ln w="12700">
            <a:solidFill>
              <a:srgbClr val="E8920A"/>
            </a:solidFill>
            <a:prstDash val="solid"/>
          </a:ln>
        </p:spPr>
      </p:sp>
      <p:sp>
        <p:nvSpPr>
          <p:cNvPr id="9" name="Shape 7"/>
          <p:cNvSpPr/>
          <p:nvPr/>
        </p:nvSpPr>
        <p:spPr>
          <a:xfrm>
            <a:off x="457200" y="969264"/>
            <a:ext cx="548640" cy="502920"/>
          </a:xfrm>
          <a:prstGeom prst="rect">
            <a:avLst/>
          </a:prstGeom>
          <a:solidFill>
            <a:srgbClr val="E8920A"/>
          </a:solidFill>
          <a:ln w="12700">
            <a:solidFill>
              <a:srgbClr val="E8920A"/>
            </a:solidFill>
            <a:prstDash val="solid"/>
          </a:ln>
        </p:spPr>
      </p:sp>
      <p:sp>
        <p:nvSpPr>
          <p:cNvPr id="10" name="Text 8"/>
          <p:cNvSpPr/>
          <p:nvPr/>
        </p:nvSpPr>
        <p:spPr>
          <a:xfrm>
            <a:off x="457200" y="969264"/>
            <a:ext cx="548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143000" y="941832"/>
            <a:ext cx="7498080" cy="347472"/>
          </a:xfrm>
          <a:prstGeom prst="rect">
            <a:avLst/>
          </a:prstGeom>
          <a:noFill/>
          <a:ln/>
        </p:spPr>
        <p:txBody>
          <a:bodyPr wrap="square" lIns="0" tIns="0" rIns="0" bIns="0" rtlCol="0" anchor="ctr"/>
          <a:lstStyle/>
          <a:p>
            <a:pPr indent="0" marL="0">
              <a:buNone/>
            </a:pPr>
            <a:r>
              <a:rPr lang="en-US" sz="1200" b="1" dirty="0">
                <a:solidFill>
                  <a:srgbClr val="1B2E4B"/>
                </a:solidFill>
                <a:latin typeface="Calibri" pitchFamily="34" charset="0"/>
                <a:ea typeface="Calibri" pitchFamily="34" charset="-122"/>
                <a:cs typeface="Calibri" pitchFamily="34" charset="-120"/>
              </a:rPr>
              <a:t>Data Quality Checklist</a:t>
            </a:r>
            <a:endParaRPr lang="en-US" sz="1200" dirty="0"/>
          </a:p>
        </p:txBody>
      </p:sp>
      <p:sp>
        <p:nvSpPr>
          <p:cNvPr id="12" name="Text 10"/>
          <p:cNvSpPr/>
          <p:nvPr/>
        </p:nvSpPr>
        <p:spPr>
          <a:xfrm>
            <a:off x="1143000" y="1316736"/>
            <a:ext cx="7498080" cy="658368"/>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Think of this as your safety net before any new dataset. No duplicates, no nulls in critical columns, consistent dates, and snake_case column names. Skipping this step is where most reporting errors are born.</a:t>
            </a:r>
            <a:endParaRPr lang="en-US" sz="950" dirty="0"/>
          </a:p>
        </p:txBody>
      </p:sp>
      <p:sp>
        <p:nvSpPr>
          <p:cNvPr id="13" name="Shape 11"/>
          <p:cNvSpPr/>
          <p:nvPr/>
        </p:nvSpPr>
        <p:spPr>
          <a:xfrm>
            <a:off x="274320" y="2194560"/>
            <a:ext cx="8595360" cy="12344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14" name="Shape 12"/>
          <p:cNvSpPr/>
          <p:nvPr/>
        </p:nvSpPr>
        <p:spPr>
          <a:xfrm>
            <a:off x="274320" y="2194560"/>
            <a:ext cx="64008" cy="1234440"/>
          </a:xfrm>
          <a:prstGeom prst="rect">
            <a:avLst/>
          </a:prstGeom>
          <a:solidFill>
            <a:srgbClr val="0EA5E9"/>
          </a:solidFill>
          <a:ln w="12700">
            <a:solidFill>
              <a:srgbClr val="0EA5E9"/>
            </a:solidFill>
            <a:prstDash val="solid"/>
          </a:ln>
        </p:spPr>
      </p:sp>
      <p:sp>
        <p:nvSpPr>
          <p:cNvPr id="15" name="Shape 13"/>
          <p:cNvSpPr/>
          <p:nvPr/>
        </p:nvSpPr>
        <p:spPr>
          <a:xfrm>
            <a:off x="457200" y="2359152"/>
            <a:ext cx="548640" cy="502920"/>
          </a:xfrm>
          <a:prstGeom prst="rect">
            <a:avLst/>
          </a:prstGeom>
          <a:solidFill>
            <a:srgbClr val="0EA5E9"/>
          </a:solidFill>
          <a:ln w="12700">
            <a:solidFill>
              <a:srgbClr val="0EA5E9"/>
            </a:solidFill>
            <a:prstDash val="solid"/>
          </a:ln>
        </p:spPr>
      </p:sp>
      <p:sp>
        <p:nvSpPr>
          <p:cNvPr id="16" name="Text 14"/>
          <p:cNvSpPr/>
          <p:nvPr/>
        </p:nvSpPr>
        <p:spPr>
          <a:xfrm>
            <a:off x="457200" y="2359152"/>
            <a:ext cx="548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1143000" y="2331720"/>
            <a:ext cx="7498080" cy="347472"/>
          </a:xfrm>
          <a:prstGeom prst="rect">
            <a:avLst/>
          </a:prstGeom>
          <a:noFill/>
          <a:ln/>
        </p:spPr>
        <p:txBody>
          <a:bodyPr wrap="square" lIns="0" tIns="0" rIns="0" bIns="0" rtlCol="0" anchor="ctr"/>
          <a:lstStyle/>
          <a:p>
            <a:pPr indent="0" marL="0">
              <a:buNone/>
            </a:pPr>
            <a:r>
              <a:rPr lang="en-US" sz="1200" b="1" dirty="0">
                <a:solidFill>
                  <a:srgbClr val="1B2E4B"/>
                </a:solidFill>
                <a:latin typeface="Calibri" pitchFamily="34" charset="0"/>
                <a:ea typeface="Calibri" pitchFamily="34" charset="-122"/>
                <a:cs typeface="Calibri" pitchFamily="34" charset="-120"/>
              </a:rPr>
              <a:t>Dataset Size Before vs. After Cleaning</a:t>
            </a:r>
            <a:endParaRPr lang="en-US" sz="1200" dirty="0"/>
          </a:p>
        </p:txBody>
      </p:sp>
      <p:sp>
        <p:nvSpPr>
          <p:cNvPr id="18" name="Text 16"/>
          <p:cNvSpPr/>
          <p:nvPr/>
        </p:nvSpPr>
        <p:spPr>
          <a:xfrm>
            <a:off x="1143000" y="2706624"/>
            <a:ext cx="7498080" cy="658368"/>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500 rows came in — only 254 survived. Nearly half the data, 246 rows, was too messy to be useful. Duplicate IDs, nulls, bad dates, and quoted numbers all had to go. What's left is lean and trustworthy.</a:t>
            </a:r>
            <a:endParaRPr lang="en-US" sz="950" dirty="0"/>
          </a:p>
        </p:txBody>
      </p:sp>
      <p:sp>
        <p:nvSpPr>
          <p:cNvPr id="19" name="Shape 17"/>
          <p:cNvSpPr/>
          <p:nvPr/>
        </p:nvSpPr>
        <p:spPr>
          <a:xfrm>
            <a:off x="274320" y="3584448"/>
            <a:ext cx="8595360" cy="12344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0" name="Shape 18"/>
          <p:cNvSpPr/>
          <p:nvPr/>
        </p:nvSpPr>
        <p:spPr>
          <a:xfrm>
            <a:off x="274320" y="3584448"/>
            <a:ext cx="64008" cy="1234440"/>
          </a:xfrm>
          <a:prstGeom prst="rect">
            <a:avLst/>
          </a:prstGeom>
          <a:solidFill>
            <a:srgbClr val="10B981"/>
          </a:solidFill>
          <a:ln w="12700">
            <a:solidFill>
              <a:srgbClr val="10B981"/>
            </a:solidFill>
            <a:prstDash val="solid"/>
          </a:ln>
        </p:spPr>
      </p:sp>
      <p:sp>
        <p:nvSpPr>
          <p:cNvPr id="21" name="Shape 19"/>
          <p:cNvSpPr/>
          <p:nvPr/>
        </p:nvSpPr>
        <p:spPr>
          <a:xfrm>
            <a:off x="457200" y="3749040"/>
            <a:ext cx="548640" cy="502920"/>
          </a:xfrm>
          <a:prstGeom prst="rect">
            <a:avLst/>
          </a:prstGeom>
          <a:solidFill>
            <a:srgbClr val="10B981"/>
          </a:solidFill>
          <a:ln w="12700">
            <a:solidFill>
              <a:srgbClr val="10B981"/>
            </a:solidFill>
            <a:prstDash val="solid"/>
          </a:ln>
        </p:spPr>
      </p:sp>
      <p:sp>
        <p:nvSpPr>
          <p:cNvPr id="22" name="Text 20"/>
          <p:cNvSpPr/>
          <p:nvPr/>
        </p:nvSpPr>
        <p:spPr>
          <a:xfrm>
            <a:off x="457200" y="3749040"/>
            <a:ext cx="548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143000" y="3721608"/>
            <a:ext cx="7498080" cy="347472"/>
          </a:xfrm>
          <a:prstGeom prst="rect">
            <a:avLst/>
          </a:prstGeom>
          <a:noFill/>
          <a:ln/>
        </p:spPr>
        <p:txBody>
          <a:bodyPr wrap="square" lIns="0" tIns="0" rIns="0" bIns="0" rtlCol="0" anchor="ctr"/>
          <a:lstStyle/>
          <a:p>
            <a:pPr indent="0" marL="0">
              <a:buNone/>
            </a:pPr>
            <a:r>
              <a:rPr lang="en-US" sz="1200" b="1" dirty="0">
                <a:solidFill>
                  <a:srgbClr val="1B2E4B"/>
                </a:solidFill>
                <a:latin typeface="Calibri" pitchFamily="34" charset="0"/>
                <a:ea typeface="Calibri" pitchFamily="34" charset="-122"/>
                <a:cs typeface="Calibri" pitchFamily="34" charset="-120"/>
              </a:rPr>
              <a:t>ETL and Power Query</a:t>
            </a:r>
            <a:endParaRPr lang="en-US" sz="1200" dirty="0"/>
          </a:p>
        </p:txBody>
      </p:sp>
      <p:sp>
        <p:nvSpPr>
          <p:cNvPr id="24" name="Text 22"/>
          <p:cNvSpPr/>
          <p:nvPr/>
        </p:nvSpPr>
        <p:spPr>
          <a:xfrm>
            <a:off x="1143000" y="4096512"/>
            <a:ext cx="7498080" cy="658368"/>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ETL is the journey your data takes before it's ready to report on. Power BI extracts, Power Query transforms, then data loads into the model. Every step records as M code — repeatable and transparent every time.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920A"/>
          </a:solidFill>
          <a:ln w="12700">
            <a:solidFill>
              <a:srgbClr val="E8920A"/>
            </a:solidFill>
            <a:prstDash val="solid"/>
          </a:ln>
        </p:spPr>
      </p:sp>
      <p:sp>
        <p:nvSpPr>
          <p:cNvPr id="3" name="Shape 1"/>
          <p:cNvSpPr/>
          <p:nvPr/>
        </p:nvSpPr>
        <p:spPr>
          <a:xfrm>
            <a:off x="0" y="5033772"/>
            <a:ext cx="9144000" cy="109728"/>
          </a:xfrm>
          <a:prstGeom prst="rect">
            <a:avLst/>
          </a:prstGeom>
          <a:solidFill>
            <a:srgbClr val="E8920A"/>
          </a:solidFill>
          <a:ln w="12700">
            <a:solidFill>
              <a:srgbClr val="E8920A"/>
            </a:solidFill>
            <a:prstDash val="solid"/>
          </a:ln>
        </p:spPr>
      </p:sp>
      <p:sp>
        <p:nvSpPr>
          <p:cNvPr id="4" name="Text 2"/>
          <p:cNvSpPr/>
          <p:nvPr/>
        </p:nvSpPr>
        <p:spPr>
          <a:xfrm>
            <a:off x="914400" y="1005840"/>
            <a:ext cx="7315200" cy="457200"/>
          </a:xfrm>
          <a:prstGeom prst="rect">
            <a:avLst/>
          </a:prstGeom>
          <a:noFill/>
          <a:ln/>
        </p:spPr>
        <p:txBody>
          <a:bodyPr wrap="square" lIns="0" tIns="0" rIns="0" bIns="0" rtlCol="0" anchor="ctr"/>
          <a:lstStyle/>
          <a:p>
            <a:pPr algn="ctr" indent="0" marL="0">
              <a:buNone/>
            </a:pPr>
            <a:r>
              <a:rPr lang="en-US" sz="1300" b="1" spc="1000" kern="0" dirty="0">
                <a:solidFill>
                  <a:srgbClr val="E8920A"/>
                </a:solidFill>
                <a:latin typeface="Calibri" pitchFamily="34" charset="0"/>
                <a:ea typeface="Calibri" pitchFamily="34" charset="-122"/>
                <a:cs typeface="Calibri" pitchFamily="34" charset="-120"/>
              </a:rPr>
              <a:t>PART B</a:t>
            </a:r>
            <a:endParaRPr lang="en-US" sz="1300" dirty="0"/>
          </a:p>
        </p:txBody>
      </p:sp>
      <p:sp>
        <p:nvSpPr>
          <p:cNvPr id="5" name="Text 3"/>
          <p:cNvSpPr/>
          <p:nvPr/>
        </p:nvSpPr>
        <p:spPr>
          <a:xfrm>
            <a:off x="914400" y="1508760"/>
            <a:ext cx="7315200" cy="146304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Merge &amp; Append</a:t>
            </a:r>
            <a:endParaRPr lang="en-US" sz="4200" dirty="0"/>
          </a:p>
          <a:p>
            <a:pPr algn="ctr" indent="0" marL="0">
              <a:buNone/>
            </a:pPr>
            <a:r>
              <a:rPr lang="en-US" sz="4200" b="1" dirty="0">
                <a:solidFill>
                  <a:srgbClr val="FFFFFF"/>
                </a:solidFill>
                <a:latin typeface="Calibri" pitchFamily="34" charset="0"/>
                <a:ea typeface="Calibri" pitchFamily="34" charset="-122"/>
                <a:cs typeface="Calibri" pitchFamily="34" charset="-120"/>
              </a:rPr>
              <a:t>Queries</a:t>
            </a:r>
            <a:endParaRPr lang="en-US" sz="4200" dirty="0"/>
          </a:p>
        </p:txBody>
      </p:sp>
      <p:sp>
        <p:nvSpPr>
          <p:cNvPr id="6" name="Shape 4"/>
          <p:cNvSpPr/>
          <p:nvPr/>
        </p:nvSpPr>
        <p:spPr>
          <a:xfrm>
            <a:off x="3200400" y="3063240"/>
            <a:ext cx="2743200" cy="45720"/>
          </a:xfrm>
          <a:prstGeom prst="rect">
            <a:avLst/>
          </a:prstGeom>
          <a:solidFill>
            <a:srgbClr val="E8920A"/>
          </a:solidFill>
          <a:ln w="12700">
            <a:solidFill>
              <a:srgbClr val="E8920A"/>
            </a:solidFill>
            <a:prstDash val="solid"/>
          </a:ln>
        </p:spPr>
      </p:sp>
      <p:sp>
        <p:nvSpPr>
          <p:cNvPr id="7" name="Text 5"/>
          <p:cNvSpPr/>
          <p:nvPr/>
        </p:nvSpPr>
        <p:spPr>
          <a:xfrm>
            <a:off x="914400" y="3246120"/>
            <a:ext cx="7315200" cy="365760"/>
          </a:xfrm>
          <a:prstGeom prst="rect">
            <a:avLst/>
          </a:prstGeom>
          <a:noFill/>
          <a:ln/>
        </p:spPr>
        <p:txBody>
          <a:bodyPr wrap="square" lIns="0" tIns="0" rIns="0" bIns="0" rtlCol="0" anchor="ctr"/>
          <a:lstStyle/>
          <a:p>
            <a:pPr algn="ctr" indent="0" marL="0">
              <a:buNone/>
            </a:pPr>
            <a:r>
              <a:rPr lang="en-US" sz="1200" i="1" dirty="0">
                <a:solidFill>
                  <a:srgbClr val="7A9ABF"/>
                </a:solidFill>
                <a:latin typeface="Calibri" pitchFamily="34" charset="0"/>
                <a:ea typeface="Calibri" pitchFamily="34" charset="-122"/>
                <a:cs typeface="Calibri" pitchFamily="34" charset="-120"/>
              </a:rPr>
              <a:t>Datasets: Customers.csv + Orders.csv   |   Join Type: Inner Join</a:t>
            </a:r>
            <a:endParaRPr lang="en-US" sz="1200" dirty="0"/>
          </a:p>
        </p:txBody>
      </p:sp>
      <p:sp>
        <p:nvSpPr>
          <p:cNvPr id="8" name="Text 6"/>
          <p:cNvSpPr/>
          <p:nvPr/>
        </p:nvSpPr>
        <p:spPr>
          <a:xfrm>
            <a:off x="914400" y="4297680"/>
            <a:ext cx="7315200" cy="274320"/>
          </a:xfrm>
          <a:prstGeom prst="rect">
            <a:avLst/>
          </a:prstGeom>
          <a:noFill/>
          <a:ln/>
        </p:spPr>
        <p:txBody>
          <a:bodyPr wrap="square" lIns="0" tIns="0" rIns="0" bIns="0" rtlCol="0" anchor="ctr"/>
          <a:lstStyle/>
          <a:p>
            <a:pPr algn="ctr" indent="0" marL="0">
              <a:buNone/>
            </a:pPr>
            <a:r>
              <a:rPr lang="en-US" sz="900" dirty="0">
                <a:solidFill>
                  <a:srgbClr val="3A5A7A"/>
                </a:solidFill>
                <a:latin typeface="Calibri" pitchFamily="34" charset="0"/>
                <a:ea typeface="Calibri" pitchFamily="34" charset="-122"/>
                <a:cs typeface="Calibri" pitchFamily="34" charset="-120"/>
              </a:rPr>
              <a:t>IS 107 – Business Intelligence  |  Edmundo C. Ederio Jr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Part B – Step 1: Load Data (Customers.csv &amp; Orders.csv)</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STEP 1</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Load both CSV files into Power Query as separate queries</a:t>
            </a:r>
            <a:endParaRPr lang="en-US" sz="900" dirty="0"/>
          </a:p>
        </p:txBody>
      </p:sp>
      <p:sp>
        <p:nvSpPr>
          <p:cNvPr id="10" name="Shape 8"/>
          <p:cNvSpPr/>
          <p:nvPr/>
        </p:nvSpPr>
        <p:spPr>
          <a:xfrm>
            <a:off x="1498642" y="1234440"/>
            <a:ext cx="6238157" cy="374904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1452922" y="1188720"/>
            <a:ext cx="6238157" cy="3749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Part B – Step 2: Merge Queries (Inner Join)</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STEP 2</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Home → Merge Queries → select CustomerID → Inner Join → OK</a:t>
            </a:r>
            <a:endParaRPr lang="en-US" sz="900" dirty="0"/>
          </a:p>
        </p:txBody>
      </p:sp>
      <p:sp>
        <p:nvSpPr>
          <p:cNvPr id="10" name="Shape 8"/>
          <p:cNvSpPr/>
          <p:nvPr/>
        </p:nvSpPr>
        <p:spPr>
          <a:xfrm>
            <a:off x="310896" y="1225296"/>
            <a:ext cx="4023360" cy="3575134"/>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274320" y="1188720"/>
            <a:ext cx="4023360" cy="3575134"/>
          </a:xfrm>
          <a:prstGeom prst="rect">
            <a:avLst/>
          </a:prstGeom>
        </p:spPr>
      </p:pic>
      <p:sp>
        <p:nvSpPr>
          <p:cNvPr id="12" name="Shape 9"/>
          <p:cNvSpPr/>
          <p:nvPr/>
        </p:nvSpPr>
        <p:spPr>
          <a:xfrm>
            <a:off x="4562856" y="1225296"/>
            <a:ext cx="4023360" cy="2376270"/>
          </a:xfrm>
          <a:prstGeom prst="rect">
            <a:avLst/>
          </a:prstGeom>
          <a:solidFill>
            <a:srgbClr val="94A3B8">
              <a:alpha val="30000"/>
            </a:srgbClr>
          </a:solidFill>
          <a:ln w="12700">
            <a:solidFill>
              <a:srgbClr val="94A3B8">
                <a:alpha val="30000"/>
              </a:srgbClr>
            </a:solidFill>
            <a:prstDash val="solid"/>
          </a:ln>
        </p:spPr>
      </p:sp>
      <p:pic>
        <p:nvPicPr>
          <p:cNvPr id="13" name="Image 1" descr="preencoded.png">    </p:cNvPr>
          <p:cNvPicPr>
            <a:picLocks noChangeAspect="1"/>
          </p:cNvPicPr>
          <p:nvPr/>
        </p:nvPicPr>
        <p:blipFill>
          <a:blip r:embed="rId2"/>
          <a:stretch>
            <a:fillRect/>
          </a:stretch>
        </p:blipFill>
        <p:spPr>
          <a:xfrm>
            <a:off x="4526280" y="1188720"/>
            <a:ext cx="4023360" cy="23762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Expand Customer Columns &amp; Final Merged Dataset</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777240"/>
            <a:ext cx="1097280" cy="320040"/>
          </a:xfrm>
          <a:prstGeom prst="rect">
            <a:avLst/>
          </a:prstGeom>
          <a:solidFill>
            <a:srgbClr val="E8920A"/>
          </a:solidFill>
          <a:ln w="12700">
            <a:solidFill>
              <a:srgbClr val="E8920A"/>
            </a:solidFill>
            <a:prstDash val="solid"/>
          </a:ln>
        </p:spPr>
      </p:sp>
      <p:sp>
        <p:nvSpPr>
          <p:cNvPr id="8" name="Text 6"/>
          <p:cNvSpPr/>
          <p:nvPr/>
        </p:nvSpPr>
        <p:spPr>
          <a:xfrm>
            <a:off x="274320" y="777240"/>
            <a:ext cx="109728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STEP 3</a:t>
            </a:r>
            <a:endParaRPr lang="en-US" sz="900" dirty="0"/>
          </a:p>
        </p:txBody>
      </p:sp>
      <p:sp>
        <p:nvSpPr>
          <p:cNvPr id="9" name="Text 7"/>
          <p:cNvSpPr/>
          <p:nvPr/>
        </p:nvSpPr>
        <p:spPr>
          <a:xfrm>
            <a:off x="1508760" y="804672"/>
            <a:ext cx="7315200" cy="256032"/>
          </a:xfrm>
          <a:prstGeom prst="rect">
            <a:avLst/>
          </a:prstGeom>
          <a:noFill/>
          <a:ln/>
        </p:spPr>
        <p:txBody>
          <a:bodyPr wrap="square" lIns="0" tIns="0" rIns="0" bIns="0" rtlCol="0" anchor="ctr"/>
          <a:lstStyle/>
          <a:p>
            <a:pPr indent="0" marL="0">
              <a:buNone/>
            </a:pPr>
            <a:r>
              <a:rPr lang="en-US" sz="900" i="1" dirty="0">
                <a:solidFill>
                  <a:srgbClr val="5A6A7A"/>
                </a:solidFill>
                <a:latin typeface="Calibri" pitchFamily="34" charset="0"/>
                <a:ea typeface="Calibri" pitchFamily="34" charset="-122"/>
                <a:cs typeface="Calibri" pitchFamily="34" charset="-120"/>
              </a:rPr>
              <a:t>Click expand icon on merged column → select CustomerName, City, Region → OK</a:t>
            </a:r>
            <a:endParaRPr lang="en-US" sz="900" dirty="0"/>
          </a:p>
        </p:txBody>
      </p:sp>
      <p:sp>
        <p:nvSpPr>
          <p:cNvPr id="10" name="Shape 8"/>
          <p:cNvSpPr/>
          <p:nvPr/>
        </p:nvSpPr>
        <p:spPr>
          <a:xfrm>
            <a:off x="310896" y="1188720"/>
            <a:ext cx="3349214" cy="3657600"/>
          </a:xfrm>
          <a:prstGeom prst="rect">
            <a:avLst/>
          </a:prstGeom>
          <a:solidFill>
            <a:srgbClr val="94A3B8">
              <a:alpha val="30000"/>
            </a:srgbClr>
          </a:solidFill>
          <a:ln w="12700">
            <a:solidFill>
              <a:srgbClr val="94A3B8">
                <a:alpha val="30000"/>
              </a:srgbClr>
            </a:solidFill>
            <a:prstDash val="solid"/>
          </a:ln>
        </p:spPr>
      </p:sp>
      <p:pic>
        <p:nvPicPr>
          <p:cNvPr id="11" name="Image 0" descr="preencoded.png">    </p:cNvPr>
          <p:cNvPicPr>
            <a:picLocks noChangeAspect="1"/>
          </p:cNvPicPr>
          <p:nvPr/>
        </p:nvPicPr>
        <p:blipFill>
          <a:blip r:embed="rId1"/>
          <a:stretch>
            <a:fillRect/>
          </a:stretch>
        </p:blipFill>
        <p:spPr>
          <a:xfrm>
            <a:off x="274320" y="1188720"/>
            <a:ext cx="3349214" cy="3657600"/>
          </a:xfrm>
          <a:prstGeom prst="rect">
            <a:avLst/>
          </a:prstGeom>
        </p:spPr>
      </p:pic>
      <p:sp>
        <p:nvSpPr>
          <p:cNvPr id="12" name="Shape 9"/>
          <p:cNvSpPr/>
          <p:nvPr/>
        </p:nvSpPr>
        <p:spPr>
          <a:xfrm>
            <a:off x="3980150" y="1225296"/>
            <a:ext cx="4926106" cy="2889595"/>
          </a:xfrm>
          <a:prstGeom prst="rect">
            <a:avLst/>
          </a:prstGeom>
          <a:solidFill>
            <a:srgbClr val="94A3B8">
              <a:alpha val="30000"/>
            </a:srgbClr>
          </a:solidFill>
          <a:ln w="12700">
            <a:solidFill>
              <a:srgbClr val="94A3B8">
                <a:alpha val="30000"/>
              </a:srgbClr>
            </a:solidFill>
            <a:prstDash val="solid"/>
          </a:ln>
        </p:spPr>
      </p:sp>
      <p:pic>
        <p:nvPicPr>
          <p:cNvPr id="13" name="Image 1" descr="preencoded.png">    </p:cNvPr>
          <p:cNvPicPr>
            <a:picLocks noChangeAspect="1"/>
          </p:cNvPicPr>
          <p:nvPr/>
        </p:nvPicPr>
        <p:blipFill>
          <a:blip r:embed="rId2"/>
          <a:stretch>
            <a:fillRect/>
          </a:stretch>
        </p:blipFill>
        <p:spPr>
          <a:xfrm>
            <a:off x="3943574" y="1188720"/>
            <a:ext cx="4926106" cy="2889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Guide Questions – Part B: Merge &amp; Append</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28600" y="804672"/>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8" name="Shape 6"/>
          <p:cNvSpPr/>
          <p:nvPr/>
        </p:nvSpPr>
        <p:spPr>
          <a:xfrm>
            <a:off x="228600" y="804672"/>
            <a:ext cx="4069080" cy="73152"/>
          </a:xfrm>
          <a:prstGeom prst="rect">
            <a:avLst/>
          </a:prstGeom>
          <a:solidFill>
            <a:srgbClr val="0EA5E9"/>
          </a:solidFill>
          <a:ln w="12700">
            <a:solidFill>
              <a:srgbClr val="0EA5E9"/>
            </a:solidFill>
            <a:prstDash val="solid"/>
          </a:ln>
        </p:spPr>
      </p:sp>
      <p:sp>
        <p:nvSpPr>
          <p:cNvPr id="9" name="Shape 7"/>
          <p:cNvSpPr/>
          <p:nvPr/>
        </p:nvSpPr>
        <p:spPr>
          <a:xfrm>
            <a:off x="365760" y="950976"/>
            <a:ext cx="347472" cy="347472"/>
          </a:xfrm>
          <a:prstGeom prst="ellipse">
            <a:avLst/>
          </a:prstGeom>
          <a:solidFill>
            <a:srgbClr val="1B2E4B"/>
          </a:solidFill>
          <a:ln w="12700">
            <a:solidFill>
              <a:srgbClr val="1B2E4B"/>
            </a:solidFill>
            <a:prstDash val="solid"/>
          </a:ln>
        </p:spPr>
      </p:sp>
      <p:sp>
        <p:nvSpPr>
          <p:cNvPr id="10" name="Text 8"/>
          <p:cNvSpPr/>
          <p:nvPr/>
        </p:nvSpPr>
        <p:spPr>
          <a:xfrm>
            <a:off x="365760" y="950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22960" y="969264"/>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Difference between Merge and Append?</a:t>
            </a:r>
            <a:endParaRPr lang="en-US" sz="1050" dirty="0"/>
          </a:p>
        </p:txBody>
      </p:sp>
      <p:sp>
        <p:nvSpPr>
          <p:cNvPr id="12" name="Text 10"/>
          <p:cNvSpPr/>
          <p:nvPr/>
        </p:nvSpPr>
        <p:spPr>
          <a:xfrm>
            <a:off x="365760" y="1399032"/>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Merge joins tables side by side using a key (like SQL JOIN). Append stacks rows when tables share the same structure. Merge = add columns. Append = add rows.</a:t>
            </a:r>
            <a:endParaRPr lang="en-US" sz="950" dirty="0"/>
          </a:p>
        </p:txBody>
      </p:sp>
      <p:sp>
        <p:nvSpPr>
          <p:cNvPr id="13" name="Shape 11"/>
          <p:cNvSpPr/>
          <p:nvPr/>
        </p:nvSpPr>
        <p:spPr>
          <a:xfrm>
            <a:off x="4526280" y="804672"/>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14" name="Shape 12"/>
          <p:cNvSpPr/>
          <p:nvPr/>
        </p:nvSpPr>
        <p:spPr>
          <a:xfrm>
            <a:off x="4526280" y="804672"/>
            <a:ext cx="4069080" cy="73152"/>
          </a:xfrm>
          <a:prstGeom prst="rect">
            <a:avLst/>
          </a:prstGeom>
          <a:solidFill>
            <a:srgbClr val="0EA5E9"/>
          </a:solidFill>
          <a:ln w="12700">
            <a:solidFill>
              <a:srgbClr val="0EA5E9"/>
            </a:solidFill>
            <a:prstDash val="solid"/>
          </a:ln>
        </p:spPr>
      </p:sp>
      <p:sp>
        <p:nvSpPr>
          <p:cNvPr id="15" name="Shape 13"/>
          <p:cNvSpPr/>
          <p:nvPr/>
        </p:nvSpPr>
        <p:spPr>
          <a:xfrm>
            <a:off x="4663440" y="950976"/>
            <a:ext cx="347472" cy="347472"/>
          </a:xfrm>
          <a:prstGeom prst="ellipse">
            <a:avLst/>
          </a:prstGeom>
          <a:solidFill>
            <a:srgbClr val="1B2E4B"/>
          </a:solidFill>
          <a:ln w="12700">
            <a:solidFill>
              <a:srgbClr val="1B2E4B"/>
            </a:solidFill>
            <a:prstDash val="solid"/>
          </a:ln>
        </p:spPr>
      </p:sp>
      <p:sp>
        <p:nvSpPr>
          <p:cNvPr id="16" name="Text 14"/>
          <p:cNvSpPr/>
          <p:nvPr/>
        </p:nvSpPr>
        <p:spPr>
          <a:xfrm>
            <a:off x="4663440" y="950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5120640" y="969264"/>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Why use Inner Join instead of Left Join?</a:t>
            </a:r>
            <a:endParaRPr lang="en-US" sz="1050" dirty="0"/>
          </a:p>
        </p:txBody>
      </p:sp>
      <p:sp>
        <p:nvSpPr>
          <p:cNvPr id="18" name="Text 16"/>
          <p:cNvSpPr/>
          <p:nvPr/>
        </p:nvSpPr>
        <p:spPr>
          <a:xfrm>
            <a:off x="4663440" y="1399032"/>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Inner Join keeps only matched records — clean data, no mystery nulls. It kept 400 valid orders and dropped unrecognizable customer IDs. Less noise, more trust.</a:t>
            </a:r>
            <a:endParaRPr lang="en-US" sz="950" dirty="0"/>
          </a:p>
        </p:txBody>
      </p:sp>
      <p:sp>
        <p:nvSpPr>
          <p:cNvPr id="19" name="Shape 17"/>
          <p:cNvSpPr/>
          <p:nvPr/>
        </p:nvSpPr>
        <p:spPr>
          <a:xfrm>
            <a:off x="228600" y="2660904"/>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0" name="Shape 18"/>
          <p:cNvSpPr/>
          <p:nvPr/>
        </p:nvSpPr>
        <p:spPr>
          <a:xfrm>
            <a:off x="228600" y="2660904"/>
            <a:ext cx="4069080" cy="73152"/>
          </a:xfrm>
          <a:prstGeom prst="rect">
            <a:avLst/>
          </a:prstGeom>
          <a:solidFill>
            <a:srgbClr val="0EA5E9"/>
          </a:solidFill>
          <a:ln w="12700">
            <a:solidFill>
              <a:srgbClr val="0EA5E9"/>
            </a:solidFill>
            <a:prstDash val="solid"/>
          </a:ln>
        </p:spPr>
      </p:sp>
      <p:sp>
        <p:nvSpPr>
          <p:cNvPr id="21" name="Shape 19"/>
          <p:cNvSpPr/>
          <p:nvPr/>
        </p:nvSpPr>
        <p:spPr>
          <a:xfrm>
            <a:off x="365760" y="2807208"/>
            <a:ext cx="347472" cy="347472"/>
          </a:xfrm>
          <a:prstGeom prst="ellipse">
            <a:avLst/>
          </a:prstGeom>
          <a:solidFill>
            <a:srgbClr val="1B2E4B"/>
          </a:solidFill>
          <a:ln w="12700">
            <a:solidFill>
              <a:srgbClr val="1B2E4B"/>
            </a:solidFill>
            <a:prstDash val="solid"/>
          </a:ln>
        </p:spPr>
      </p:sp>
      <p:sp>
        <p:nvSpPr>
          <p:cNvPr id="22" name="Text 20"/>
          <p:cNvSpPr/>
          <p:nvPr/>
        </p:nvSpPr>
        <p:spPr>
          <a:xfrm>
            <a:off x="365760" y="2807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22960" y="2825496"/>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What happens to unmatched records in Inner Join?</a:t>
            </a:r>
            <a:endParaRPr lang="en-US" sz="1050" dirty="0"/>
          </a:p>
        </p:txBody>
      </p:sp>
      <p:sp>
        <p:nvSpPr>
          <p:cNvPr id="24" name="Text 22"/>
          <p:cNvSpPr/>
          <p:nvPr/>
        </p:nvSpPr>
        <p:spPr>
          <a:xfrm>
            <a:off x="365760" y="3255264"/>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They get dropped — no warning, no error. Any order without a matching CustomerID simply doesn't make it through. That's what makes Inner Join the strictest join type.</a:t>
            </a:r>
            <a:endParaRPr lang="en-US" sz="950" dirty="0"/>
          </a:p>
        </p:txBody>
      </p:sp>
      <p:sp>
        <p:nvSpPr>
          <p:cNvPr id="25" name="Shape 23"/>
          <p:cNvSpPr/>
          <p:nvPr/>
        </p:nvSpPr>
        <p:spPr>
          <a:xfrm>
            <a:off x="4526280" y="2660904"/>
            <a:ext cx="4069080" cy="16916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6" name="Shape 24"/>
          <p:cNvSpPr/>
          <p:nvPr/>
        </p:nvSpPr>
        <p:spPr>
          <a:xfrm>
            <a:off x="4526280" y="2660904"/>
            <a:ext cx="4069080" cy="73152"/>
          </a:xfrm>
          <a:prstGeom prst="rect">
            <a:avLst/>
          </a:prstGeom>
          <a:solidFill>
            <a:srgbClr val="0EA5E9"/>
          </a:solidFill>
          <a:ln w="12700">
            <a:solidFill>
              <a:srgbClr val="0EA5E9"/>
            </a:solidFill>
            <a:prstDash val="solid"/>
          </a:ln>
        </p:spPr>
      </p:sp>
      <p:sp>
        <p:nvSpPr>
          <p:cNvPr id="27" name="Shape 25"/>
          <p:cNvSpPr/>
          <p:nvPr/>
        </p:nvSpPr>
        <p:spPr>
          <a:xfrm>
            <a:off x="4663440" y="2807208"/>
            <a:ext cx="347472" cy="347472"/>
          </a:xfrm>
          <a:prstGeom prst="ellipse">
            <a:avLst/>
          </a:prstGeom>
          <a:solidFill>
            <a:srgbClr val="1B2E4B"/>
          </a:solidFill>
          <a:ln w="12700">
            <a:solidFill>
              <a:srgbClr val="1B2E4B"/>
            </a:solidFill>
            <a:prstDash val="solid"/>
          </a:ln>
        </p:spPr>
      </p:sp>
      <p:sp>
        <p:nvSpPr>
          <p:cNvPr id="28" name="Text 26"/>
          <p:cNvSpPr/>
          <p:nvPr/>
        </p:nvSpPr>
        <p:spPr>
          <a:xfrm>
            <a:off x="4663440" y="2807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p:nvPr/>
        </p:nvSpPr>
        <p:spPr>
          <a:xfrm>
            <a:off x="5120640" y="2825496"/>
            <a:ext cx="3337560" cy="347472"/>
          </a:xfrm>
          <a:prstGeom prst="rect">
            <a:avLst/>
          </a:prstGeom>
          <a:noFill/>
          <a:ln/>
        </p:spPr>
        <p:txBody>
          <a:bodyPr wrap="square" lIns="0" tIns="0" rIns="0" bIns="0" rtlCol="0" anchor="ctr"/>
          <a:lstStyle/>
          <a:p>
            <a:pPr indent="0" marL="0">
              <a:buNone/>
            </a:pPr>
            <a:r>
              <a:rPr lang="en-US" sz="1050" b="1" dirty="0">
                <a:solidFill>
                  <a:srgbClr val="1B2E4B"/>
                </a:solidFill>
                <a:latin typeface="Calibri" pitchFamily="34" charset="0"/>
                <a:ea typeface="Calibri" pitchFamily="34" charset="-122"/>
                <a:cs typeface="Calibri" pitchFamily="34" charset="-120"/>
              </a:rPr>
              <a:t>When is Append better than Merge?</a:t>
            </a:r>
            <a:endParaRPr lang="en-US" sz="1050" dirty="0"/>
          </a:p>
        </p:txBody>
      </p:sp>
      <p:sp>
        <p:nvSpPr>
          <p:cNvPr id="30" name="Text 28"/>
          <p:cNvSpPr/>
          <p:nvPr/>
        </p:nvSpPr>
        <p:spPr>
          <a:xfrm>
            <a:off x="4663440" y="3255264"/>
            <a:ext cx="3794760" cy="100584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When tables are clones of each other. Jan, Feb, March sales files with the same columns? Append stacks them cleanly. Merge is wrong here — no relational key exists.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E4B"/>
          </a:solidFill>
          <a:ln w="12700">
            <a:solidFill>
              <a:srgbClr val="1B2E4B"/>
            </a:solidFill>
            <a:prstDash val="solid"/>
          </a:ln>
        </p:spPr>
      </p:sp>
      <p:sp>
        <p:nvSpPr>
          <p:cNvPr id="3" name="Shape 1"/>
          <p:cNvSpPr/>
          <p:nvPr/>
        </p:nvSpPr>
        <p:spPr>
          <a:xfrm>
            <a:off x="0" y="0"/>
            <a:ext cx="164592" cy="658368"/>
          </a:xfrm>
          <a:prstGeom prst="rect">
            <a:avLst/>
          </a:prstGeom>
          <a:solidFill>
            <a:srgbClr val="E8920A"/>
          </a:solidFill>
          <a:ln w="12700">
            <a:solidFill>
              <a:srgbClr val="E8920A"/>
            </a:solidFill>
            <a:prstDash val="solid"/>
          </a:ln>
        </p:spPr>
      </p:sp>
      <p:sp>
        <p:nvSpPr>
          <p:cNvPr id="4" name="Text 2"/>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Enhancement Activities – Part B</a:t>
            </a:r>
            <a:endParaRPr lang="en-US" sz="2000" dirty="0"/>
          </a:p>
        </p:txBody>
      </p:sp>
      <p:sp>
        <p:nvSpPr>
          <p:cNvPr id="5" name="Shape 3"/>
          <p:cNvSpPr/>
          <p:nvPr/>
        </p:nvSpPr>
        <p:spPr>
          <a:xfrm>
            <a:off x="0" y="4937760"/>
            <a:ext cx="9144000" cy="205740"/>
          </a:xfrm>
          <a:prstGeom prst="rect">
            <a:avLst/>
          </a:prstGeom>
          <a:solidFill>
            <a:srgbClr val="0F1E33"/>
          </a:solidFill>
          <a:ln w="12700">
            <a:solidFill>
              <a:srgbClr val="0F1E33"/>
            </a:solidFill>
            <a:prstDash val="solid"/>
          </a:ln>
        </p:spPr>
      </p:sp>
      <p:sp>
        <p:nvSpPr>
          <p:cNvPr id="6" name="Text 4"/>
          <p:cNvSpPr/>
          <p:nvPr/>
        </p:nvSpPr>
        <p:spPr>
          <a:xfrm>
            <a:off x="274320" y="4937760"/>
            <a:ext cx="8595360" cy="205740"/>
          </a:xfrm>
          <a:prstGeom prst="rect">
            <a:avLst/>
          </a:prstGeom>
          <a:noFill/>
          <a:ln/>
        </p:spPr>
        <p:txBody>
          <a:bodyPr wrap="square" lIns="0" tIns="0" rIns="0" bIns="0" rtlCol="0" anchor="ctr"/>
          <a:lstStyle/>
          <a:p>
            <a:pPr algn="ctr" indent="0" marL="0">
              <a:buNone/>
            </a:pPr>
            <a:r>
              <a:rPr lang="en-US" sz="750" dirty="0">
                <a:solidFill>
                  <a:srgbClr val="7A9ABF"/>
                </a:solidFill>
                <a:latin typeface="Calibri" pitchFamily="34" charset="0"/>
                <a:ea typeface="Calibri" pitchFamily="34" charset="-122"/>
                <a:cs typeface="Calibri" pitchFamily="34" charset="-120"/>
              </a:rPr>
              <a:t>IS 107 – Business Intelligence  |  Laboratory Work 2  |  Edmundo C. Ederio Jr</a:t>
            </a:r>
            <a:endParaRPr lang="en-US" sz="750" dirty="0"/>
          </a:p>
        </p:txBody>
      </p:sp>
      <p:sp>
        <p:nvSpPr>
          <p:cNvPr id="7" name="Shape 5"/>
          <p:cNvSpPr/>
          <p:nvPr/>
        </p:nvSpPr>
        <p:spPr>
          <a:xfrm>
            <a:off x="274320" y="804672"/>
            <a:ext cx="8595360" cy="123444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8" name="Shape 6"/>
          <p:cNvSpPr/>
          <p:nvPr/>
        </p:nvSpPr>
        <p:spPr>
          <a:xfrm>
            <a:off x="274320" y="804672"/>
            <a:ext cx="64008" cy="1234440"/>
          </a:xfrm>
          <a:prstGeom prst="rect">
            <a:avLst/>
          </a:prstGeom>
          <a:solidFill>
            <a:srgbClr val="0EA5E9"/>
          </a:solidFill>
          <a:ln w="12700">
            <a:solidFill>
              <a:srgbClr val="0EA5E9"/>
            </a:solidFill>
            <a:prstDash val="solid"/>
          </a:ln>
        </p:spPr>
      </p:sp>
      <p:sp>
        <p:nvSpPr>
          <p:cNvPr id="9" name="Shape 7"/>
          <p:cNvSpPr/>
          <p:nvPr/>
        </p:nvSpPr>
        <p:spPr>
          <a:xfrm>
            <a:off x="457200" y="969264"/>
            <a:ext cx="548640" cy="502920"/>
          </a:xfrm>
          <a:prstGeom prst="rect">
            <a:avLst/>
          </a:prstGeom>
          <a:solidFill>
            <a:srgbClr val="0EA5E9"/>
          </a:solidFill>
          <a:ln w="12700">
            <a:solidFill>
              <a:srgbClr val="0EA5E9"/>
            </a:solidFill>
            <a:prstDash val="solid"/>
          </a:ln>
        </p:spPr>
      </p:sp>
      <p:sp>
        <p:nvSpPr>
          <p:cNvPr id="10" name="Text 8"/>
          <p:cNvSpPr/>
          <p:nvPr/>
        </p:nvSpPr>
        <p:spPr>
          <a:xfrm>
            <a:off x="457200" y="969264"/>
            <a:ext cx="5486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143000" y="941832"/>
            <a:ext cx="7498080" cy="347472"/>
          </a:xfrm>
          <a:prstGeom prst="rect">
            <a:avLst/>
          </a:prstGeom>
          <a:noFill/>
          <a:ln/>
        </p:spPr>
        <p:txBody>
          <a:bodyPr wrap="square" lIns="0" tIns="0" rIns="0" bIns="0" rtlCol="0" anchor="ctr"/>
          <a:lstStyle/>
          <a:p>
            <a:pPr indent="0" marL="0">
              <a:buNone/>
            </a:pPr>
            <a:r>
              <a:rPr lang="en-US" sz="1200" b="1" dirty="0">
                <a:solidFill>
                  <a:srgbClr val="1B2E4B"/>
                </a:solidFill>
                <a:latin typeface="Calibri" pitchFamily="34" charset="0"/>
                <a:ea typeface="Calibri" pitchFamily="34" charset="-122"/>
                <a:cs typeface="Calibri" pitchFamily="34" charset="-120"/>
              </a:rPr>
              <a:t>Left Join vs Inner Join Comparison</a:t>
            </a:r>
            <a:endParaRPr lang="en-US" sz="1200" dirty="0"/>
          </a:p>
        </p:txBody>
      </p:sp>
      <p:sp>
        <p:nvSpPr>
          <p:cNvPr id="12" name="Text 10"/>
          <p:cNvSpPr/>
          <p:nvPr/>
        </p:nvSpPr>
        <p:spPr>
          <a:xfrm>
            <a:off x="1143000" y="1316736"/>
            <a:ext cx="7498080" cy="594360"/>
          </a:xfrm>
          <a:prstGeom prst="rect">
            <a:avLst/>
          </a:prstGeom>
          <a:noFill/>
          <a:ln/>
        </p:spPr>
        <p:txBody>
          <a:bodyPr wrap="square" lIns="0" tIns="0" rIns="0" bIns="0" rtlCol="0" anchor="ctr"/>
          <a:lstStyle/>
          <a:p>
            <a:pPr indent="0" marL="0">
              <a:buNone/>
            </a:pPr>
            <a:r>
              <a:rPr lang="en-US" sz="950" dirty="0">
                <a:solidFill>
                  <a:srgbClr val="5A6A7A"/>
                </a:solidFill>
                <a:latin typeface="Calibri" pitchFamily="34" charset="0"/>
                <a:ea typeface="Calibri" pitchFamily="34" charset="-122"/>
                <a:cs typeface="Calibri" pitchFamily="34" charset="-120"/>
              </a:rPr>
              <a:t>Both Inner and Left Outer Join returned 400 rows here — all 500 orders had matching CustomerIDs. In a different dataset, Left Join would keep unmatched orders showing null for customer details.</a:t>
            </a:r>
            <a:endParaRPr lang="en-US" sz="950" dirty="0"/>
          </a:p>
        </p:txBody>
      </p:sp>
      <p:sp>
        <p:nvSpPr>
          <p:cNvPr id="13" name="Text 11"/>
          <p:cNvSpPr/>
          <p:nvPr/>
        </p:nvSpPr>
        <p:spPr>
          <a:xfrm>
            <a:off x="274320" y="2176272"/>
            <a:ext cx="8595360" cy="292608"/>
          </a:xfrm>
          <a:prstGeom prst="rect">
            <a:avLst/>
          </a:prstGeom>
          <a:noFill/>
          <a:ln/>
        </p:spPr>
        <p:txBody>
          <a:bodyPr wrap="square" lIns="0" tIns="0" rIns="0" bIns="0" rtlCol="0" anchor="ctr"/>
          <a:lstStyle/>
          <a:p>
            <a:pPr indent="0" marL="0">
              <a:buNone/>
            </a:pPr>
            <a:r>
              <a:rPr lang="en-US" sz="1200" b="1" dirty="0">
                <a:solidFill>
                  <a:srgbClr val="1B2E4B"/>
                </a:solidFill>
                <a:latin typeface="Calibri" pitchFamily="34" charset="0"/>
                <a:ea typeface="Calibri" pitchFamily="34" charset="-122"/>
                <a:cs typeface="Calibri" pitchFamily="34" charset="-120"/>
              </a:rPr>
              <a:t>Activity 3 – Join Types Reference</a:t>
            </a:r>
            <a:endParaRPr lang="en-US" sz="1200" dirty="0"/>
          </a:p>
        </p:txBody>
      </p:sp>
      <p:sp>
        <p:nvSpPr>
          <p:cNvPr id="14" name="Shape 12"/>
          <p:cNvSpPr/>
          <p:nvPr/>
        </p:nvSpPr>
        <p:spPr>
          <a:xfrm>
            <a:off x="274320" y="2542032"/>
            <a:ext cx="2011680" cy="228600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15" name="Shape 13"/>
          <p:cNvSpPr/>
          <p:nvPr/>
        </p:nvSpPr>
        <p:spPr>
          <a:xfrm>
            <a:off x="274320" y="2542032"/>
            <a:ext cx="2011680" cy="347472"/>
          </a:xfrm>
          <a:prstGeom prst="rect">
            <a:avLst/>
          </a:prstGeom>
          <a:solidFill>
            <a:srgbClr val="E8920A"/>
          </a:solidFill>
          <a:ln w="12700">
            <a:solidFill>
              <a:srgbClr val="E8920A"/>
            </a:solidFill>
            <a:prstDash val="solid"/>
          </a:ln>
        </p:spPr>
      </p:sp>
      <p:sp>
        <p:nvSpPr>
          <p:cNvPr id="16" name="Text 14"/>
          <p:cNvSpPr/>
          <p:nvPr/>
        </p:nvSpPr>
        <p:spPr>
          <a:xfrm>
            <a:off x="274320" y="2542032"/>
            <a:ext cx="201168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INNER JOIN</a:t>
            </a:r>
            <a:endParaRPr lang="en-US" sz="950" dirty="0"/>
          </a:p>
        </p:txBody>
      </p:sp>
      <p:sp>
        <p:nvSpPr>
          <p:cNvPr id="17" name="Text 15"/>
          <p:cNvSpPr/>
          <p:nvPr/>
        </p:nvSpPr>
        <p:spPr>
          <a:xfrm>
            <a:off x="384048" y="2953512"/>
            <a:ext cx="1792224" cy="777240"/>
          </a:xfrm>
          <a:prstGeom prst="rect">
            <a:avLst/>
          </a:prstGeom>
          <a:noFill/>
          <a:ln/>
        </p:spPr>
        <p:txBody>
          <a:bodyPr wrap="square" lIns="0" tIns="0" rIns="0" bIns="0" rtlCol="0" anchor="ctr"/>
          <a:lstStyle/>
          <a:p>
            <a:pPr indent="0" marL="0">
              <a:buNone/>
            </a:pPr>
            <a:r>
              <a:rPr lang="en-US" sz="900" dirty="0">
                <a:solidFill>
                  <a:srgbClr val="1B2E4B"/>
                </a:solidFill>
                <a:latin typeface="Calibri" pitchFamily="34" charset="0"/>
                <a:ea typeface="Calibri" pitchFamily="34" charset="-122"/>
                <a:cs typeface="Calibri" pitchFamily="34" charset="-120"/>
              </a:rPr>
              <a:t>Only matching rows in BOTH tables</a:t>
            </a:r>
            <a:endParaRPr lang="en-US" sz="900" dirty="0"/>
          </a:p>
        </p:txBody>
      </p:sp>
      <p:sp>
        <p:nvSpPr>
          <p:cNvPr id="18" name="Shape 16"/>
          <p:cNvSpPr/>
          <p:nvPr/>
        </p:nvSpPr>
        <p:spPr>
          <a:xfrm>
            <a:off x="384048" y="3803904"/>
            <a:ext cx="1792224" cy="36576"/>
          </a:xfrm>
          <a:prstGeom prst="rect">
            <a:avLst/>
          </a:prstGeom>
          <a:solidFill>
            <a:srgbClr val="CBD5E1"/>
          </a:solidFill>
          <a:ln w="12700">
            <a:solidFill>
              <a:srgbClr val="CBD5E1"/>
            </a:solidFill>
            <a:prstDash val="solid"/>
          </a:ln>
        </p:spPr>
      </p:sp>
      <p:sp>
        <p:nvSpPr>
          <p:cNvPr id="19" name="Text 17"/>
          <p:cNvSpPr/>
          <p:nvPr/>
        </p:nvSpPr>
        <p:spPr>
          <a:xfrm>
            <a:off x="384048" y="3913632"/>
            <a:ext cx="1792224" cy="201168"/>
          </a:xfrm>
          <a:prstGeom prst="rect">
            <a:avLst/>
          </a:prstGeom>
          <a:noFill/>
          <a:ln/>
        </p:spPr>
        <p:txBody>
          <a:bodyPr wrap="square" lIns="0" tIns="0" rIns="0" bIns="0" rtlCol="0" anchor="ctr"/>
          <a:lstStyle/>
          <a:p>
            <a:pPr indent="0" marL="0">
              <a:buNone/>
            </a:pPr>
            <a:r>
              <a:rPr lang="en-US" sz="800" b="1" dirty="0">
                <a:solidFill>
                  <a:srgbClr val="E8920A"/>
                </a:solidFill>
                <a:latin typeface="Calibri" pitchFamily="34" charset="0"/>
                <a:ea typeface="Calibri" pitchFamily="34" charset="-122"/>
                <a:cs typeface="Calibri" pitchFamily="34" charset="-120"/>
              </a:rPr>
              <a:t>Use when:</a:t>
            </a:r>
            <a:endParaRPr lang="en-US" sz="800" dirty="0"/>
          </a:p>
        </p:txBody>
      </p:sp>
      <p:sp>
        <p:nvSpPr>
          <p:cNvPr id="20" name="Text 18"/>
          <p:cNvSpPr/>
          <p:nvPr/>
        </p:nvSpPr>
        <p:spPr>
          <a:xfrm>
            <a:off x="384048" y="4114800"/>
            <a:ext cx="1792224" cy="594360"/>
          </a:xfrm>
          <a:prstGeom prst="rect">
            <a:avLst/>
          </a:prstGeom>
          <a:noFill/>
          <a:ln/>
        </p:spPr>
        <p:txBody>
          <a:bodyPr wrap="square" lIns="0" tIns="0" rIns="0" bIns="0" rtlCol="0" anchor="ctr"/>
          <a:lstStyle/>
          <a:p>
            <a:pPr indent="0" marL="0">
              <a:buNone/>
            </a:pPr>
            <a:r>
              <a:rPr lang="en-US" sz="850" dirty="0">
                <a:solidFill>
                  <a:srgbClr val="5A6A7A"/>
                </a:solidFill>
                <a:latin typeface="Calibri" pitchFamily="34" charset="0"/>
                <a:ea typeface="Calibri" pitchFamily="34" charset="-122"/>
                <a:cs typeface="Calibri" pitchFamily="34" charset="-120"/>
              </a:rPr>
              <a:t>Clean, fully-matched data</a:t>
            </a:r>
            <a:endParaRPr lang="en-US" sz="850" dirty="0"/>
          </a:p>
        </p:txBody>
      </p:sp>
      <p:sp>
        <p:nvSpPr>
          <p:cNvPr id="21" name="Shape 19"/>
          <p:cNvSpPr/>
          <p:nvPr/>
        </p:nvSpPr>
        <p:spPr>
          <a:xfrm>
            <a:off x="2404872" y="2542032"/>
            <a:ext cx="2011680" cy="228600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2" name="Shape 20"/>
          <p:cNvSpPr/>
          <p:nvPr/>
        </p:nvSpPr>
        <p:spPr>
          <a:xfrm>
            <a:off x="2404872" y="2542032"/>
            <a:ext cx="2011680" cy="347472"/>
          </a:xfrm>
          <a:prstGeom prst="rect">
            <a:avLst/>
          </a:prstGeom>
          <a:solidFill>
            <a:srgbClr val="0EA5E9"/>
          </a:solidFill>
          <a:ln w="12700">
            <a:solidFill>
              <a:srgbClr val="0EA5E9"/>
            </a:solidFill>
            <a:prstDash val="solid"/>
          </a:ln>
        </p:spPr>
      </p:sp>
      <p:sp>
        <p:nvSpPr>
          <p:cNvPr id="23" name="Text 21"/>
          <p:cNvSpPr/>
          <p:nvPr/>
        </p:nvSpPr>
        <p:spPr>
          <a:xfrm>
            <a:off x="2404872" y="2542032"/>
            <a:ext cx="201168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LEFT JOIN</a:t>
            </a:r>
            <a:endParaRPr lang="en-US" sz="950" dirty="0"/>
          </a:p>
        </p:txBody>
      </p:sp>
      <p:sp>
        <p:nvSpPr>
          <p:cNvPr id="24" name="Text 22"/>
          <p:cNvSpPr/>
          <p:nvPr/>
        </p:nvSpPr>
        <p:spPr>
          <a:xfrm>
            <a:off x="2514600" y="2953512"/>
            <a:ext cx="1792224" cy="777240"/>
          </a:xfrm>
          <a:prstGeom prst="rect">
            <a:avLst/>
          </a:prstGeom>
          <a:noFill/>
          <a:ln/>
        </p:spPr>
        <p:txBody>
          <a:bodyPr wrap="square" lIns="0" tIns="0" rIns="0" bIns="0" rtlCol="0" anchor="ctr"/>
          <a:lstStyle/>
          <a:p>
            <a:pPr indent="0" marL="0">
              <a:buNone/>
            </a:pPr>
            <a:r>
              <a:rPr lang="en-US" sz="900" dirty="0">
                <a:solidFill>
                  <a:srgbClr val="1B2E4B"/>
                </a:solidFill>
                <a:latin typeface="Calibri" pitchFamily="34" charset="0"/>
                <a:ea typeface="Calibri" pitchFamily="34" charset="-122"/>
                <a:cs typeface="Calibri" pitchFamily="34" charset="-120"/>
              </a:rPr>
              <a:t>ALL rows from left + matches from right</a:t>
            </a:r>
            <a:endParaRPr lang="en-US" sz="900" dirty="0"/>
          </a:p>
        </p:txBody>
      </p:sp>
      <p:sp>
        <p:nvSpPr>
          <p:cNvPr id="25" name="Shape 23"/>
          <p:cNvSpPr/>
          <p:nvPr/>
        </p:nvSpPr>
        <p:spPr>
          <a:xfrm>
            <a:off x="2514600" y="3803904"/>
            <a:ext cx="1792224" cy="36576"/>
          </a:xfrm>
          <a:prstGeom prst="rect">
            <a:avLst/>
          </a:prstGeom>
          <a:solidFill>
            <a:srgbClr val="CBD5E1"/>
          </a:solidFill>
          <a:ln w="12700">
            <a:solidFill>
              <a:srgbClr val="CBD5E1"/>
            </a:solidFill>
            <a:prstDash val="solid"/>
          </a:ln>
        </p:spPr>
      </p:sp>
      <p:sp>
        <p:nvSpPr>
          <p:cNvPr id="26" name="Text 24"/>
          <p:cNvSpPr/>
          <p:nvPr/>
        </p:nvSpPr>
        <p:spPr>
          <a:xfrm>
            <a:off x="2514600" y="3913632"/>
            <a:ext cx="1792224" cy="201168"/>
          </a:xfrm>
          <a:prstGeom prst="rect">
            <a:avLst/>
          </a:prstGeom>
          <a:noFill/>
          <a:ln/>
        </p:spPr>
        <p:txBody>
          <a:bodyPr wrap="square" lIns="0" tIns="0" rIns="0" bIns="0" rtlCol="0" anchor="ctr"/>
          <a:lstStyle/>
          <a:p>
            <a:pPr indent="0" marL="0">
              <a:buNone/>
            </a:pPr>
            <a:r>
              <a:rPr lang="en-US" sz="800" b="1" dirty="0">
                <a:solidFill>
                  <a:srgbClr val="0EA5E9"/>
                </a:solidFill>
                <a:latin typeface="Calibri" pitchFamily="34" charset="0"/>
                <a:ea typeface="Calibri" pitchFamily="34" charset="-122"/>
                <a:cs typeface="Calibri" pitchFamily="34" charset="-120"/>
              </a:rPr>
              <a:t>Use when:</a:t>
            </a:r>
            <a:endParaRPr lang="en-US" sz="800" dirty="0"/>
          </a:p>
        </p:txBody>
      </p:sp>
      <p:sp>
        <p:nvSpPr>
          <p:cNvPr id="27" name="Text 25"/>
          <p:cNvSpPr/>
          <p:nvPr/>
        </p:nvSpPr>
        <p:spPr>
          <a:xfrm>
            <a:off x="2514600" y="4114800"/>
            <a:ext cx="1792224" cy="594360"/>
          </a:xfrm>
          <a:prstGeom prst="rect">
            <a:avLst/>
          </a:prstGeom>
          <a:noFill/>
          <a:ln/>
        </p:spPr>
        <p:txBody>
          <a:bodyPr wrap="square" lIns="0" tIns="0" rIns="0" bIns="0" rtlCol="0" anchor="ctr"/>
          <a:lstStyle/>
          <a:p>
            <a:pPr indent="0" marL="0">
              <a:buNone/>
            </a:pPr>
            <a:r>
              <a:rPr lang="en-US" sz="850" dirty="0">
                <a:solidFill>
                  <a:srgbClr val="5A6A7A"/>
                </a:solidFill>
                <a:latin typeface="Calibri" pitchFamily="34" charset="0"/>
                <a:ea typeface="Calibri" pitchFamily="34" charset="-122"/>
                <a:cs typeface="Calibri" pitchFamily="34" charset="-120"/>
              </a:rPr>
              <a:t>Keep all orders, even without customer info</a:t>
            </a:r>
            <a:endParaRPr lang="en-US" sz="850" dirty="0"/>
          </a:p>
        </p:txBody>
      </p:sp>
      <p:sp>
        <p:nvSpPr>
          <p:cNvPr id="28" name="Shape 26"/>
          <p:cNvSpPr/>
          <p:nvPr/>
        </p:nvSpPr>
        <p:spPr>
          <a:xfrm>
            <a:off x="4535424" y="2542032"/>
            <a:ext cx="2011680" cy="228600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29" name="Shape 27"/>
          <p:cNvSpPr/>
          <p:nvPr/>
        </p:nvSpPr>
        <p:spPr>
          <a:xfrm>
            <a:off x="4535424" y="2542032"/>
            <a:ext cx="2011680" cy="347472"/>
          </a:xfrm>
          <a:prstGeom prst="rect">
            <a:avLst/>
          </a:prstGeom>
          <a:solidFill>
            <a:srgbClr val="10B981"/>
          </a:solidFill>
          <a:ln w="12700">
            <a:solidFill>
              <a:srgbClr val="10B981"/>
            </a:solidFill>
            <a:prstDash val="solid"/>
          </a:ln>
        </p:spPr>
      </p:sp>
      <p:sp>
        <p:nvSpPr>
          <p:cNvPr id="30" name="Text 28"/>
          <p:cNvSpPr/>
          <p:nvPr/>
        </p:nvSpPr>
        <p:spPr>
          <a:xfrm>
            <a:off x="4535424" y="2542032"/>
            <a:ext cx="201168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RIGHT JOIN</a:t>
            </a:r>
            <a:endParaRPr lang="en-US" sz="950" dirty="0"/>
          </a:p>
        </p:txBody>
      </p:sp>
      <p:sp>
        <p:nvSpPr>
          <p:cNvPr id="31" name="Text 29"/>
          <p:cNvSpPr/>
          <p:nvPr/>
        </p:nvSpPr>
        <p:spPr>
          <a:xfrm>
            <a:off x="4645152" y="2953512"/>
            <a:ext cx="1792224" cy="777240"/>
          </a:xfrm>
          <a:prstGeom prst="rect">
            <a:avLst/>
          </a:prstGeom>
          <a:noFill/>
          <a:ln/>
        </p:spPr>
        <p:txBody>
          <a:bodyPr wrap="square" lIns="0" tIns="0" rIns="0" bIns="0" rtlCol="0" anchor="ctr"/>
          <a:lstStyle/>
          <a:p>
            <a:pPr indent="0" marL="0">
              <a:buNone/>
            </a:pPr>
            <a:r>
              <a:rPr lang="en-US" sz="900" dirty="0">
                <a:solidFill>
                  <a:srgbClr val="1B2E4B"/>
                </a:solidFill>
                <a:latin typeface="Calibri" pitchFamily="34" charset="0"/>
                <a:ea typeface="Calibri" pitchFamily="34" charset="-122"/>
                <a:cs typeface="Calibri" pitchFamily="34" charset="-120"/>
              </a:rPr>
              <a:t>ALL rows from right + matches from left</a:t>
            </a:r>
            <a:endParaRPr lang="en-US" sz="900" dirty="0"/>
          </a:p>
        </p:txBody>
      </p:sp>
      <p:sp>
        <p:nvSpPr>
          <p:cNvPr id="32" name="Shape 30"/>
          <p:cNvSpPr/>
          <p:nvPr/>
        </p:nvSpPr>
        <p:spPr>
          <a:xfrm>
            <a:off x="4645152" y="3803904"/>
            <a:ext cx="1792224" cy="36576"/>
          </a:xfrm>
          <a:prstGeom prst="rect">
            <a:avLst/>
          </a:prstGeom>
          <a:solidFill>
            <a:srgbClr val="CBD5E1"/>
          </a:solidFill>
          <a:ln w="12700">
            <a:solidFill>
              <a:srgbClr val="CBD5E1"/>
            </a:solidFill>
            <a:prstDash val="solid"/>
          </a:ln>
        </p:spPr>
      </p:sp>
      <p:sp>
        <p:nvSpPr>
          <p:cNvPr id="33" name="Text 31"/>
          <p:cNvSpPr/>
          <p:nvPr/>
        </p:nvSpPr>
        <p:spPr>
          <a:xfrm>
            <a:off x="4645152" y="3913632"/>
            <a:ext cx="1792224" cy="201168"/>
          </a:xfrm>
          <a:prstGeom prst="rect">
            <a:avLst/>
          </a:prstGeom>
          <a:noFill/>
          <a:ln/>
        </p:spPr>
        <p:txBody>
          <a:bodyPr wrap="square" lIns="0" tIns="0" rIns="0" bIns="0" rtlCol="0" anchor="ctr"/>
          <a:lstStyle/>
          <a:p>
            <a:pPr indent="0" marL="0">
              <a:buNone/>
            </a:pPr>
            <a:r>
              <a:rPr lang="en-US" sz="800" b="1" dirty="0">
                <a:solidFill>
                  <a:srgbClr val="10B981"/>
                </a:solidFill>
                <a:latin typeface="Calibri" pitchFamily="34" charset="0"/>
                <a:ea typeface="Calibri" pitchFamily="34" charset="-122"/>
                <a:cs typeface="Calibri" pitchFamily="34" charset="-120"/>
              </a:rPr>
              <a:t>Use when:</a:t>
            </a:r>
            <a:endParaRPr lang="en-US" sz="800" dirty="0"/>
          </a:p>
        </p:txBody>
      </p:sp>
      <p:sp>
        <p:nvSpPr>
          <p:cNvPr id="34" name="Text 32"/>
          <p:cNvSpPr/>
          <p:nvPr/>
        </p:nvSpPr>
        <p:spPr>
          <a:xfrm>
            <a:off x="4645152" y="4114800"/>
            <a:ext cx="1792224" cy="594360"/>
          </a:xfrm>
          <a:prstGeom prst="rect">
            <a:avLst/>
          </a:prstGeom>
          <a:noFill/>
          <a:ln/>
        </p:spPr>
        <p:txBody>
          <a:bodyPr wrap="square" lIns="0" tIns="0" rIns="0" bIns="0" rtlCol="0" anchor="ctr"/>
          <a:lstStyle/>
          <a:p>
            <a:pPr indent="0" marL="0">
              <a:buNone/>
            </a:pPr>
            <a:r>
              <a:rPr lang="en-US" sz="850" dirty="0">
                <a:solidFill>
                  <a:srgbClr val="5A6A7A"/>
                </a:solidFill>
                <a:latin typeface="Calibri" pitchFamily="34" charset="0"/>
                <a:ea typeface="Calibri" pitchFamily="34" charset="-122"/>
                <a:cs typeface="Calibri" pitchFamily="34" charset="-120"/>
              </a:rPr>
              <a:t>All customers, even without orders</a:t>
            </a:r>
            <a:endParaRPr lang="en-US" sz="850" dirty="0"/>
          </a:p>
        </p:txBody>
      </p:sp>
      <p:sp>
        <p:nvSpPr>
          <p:cNvPr id="35" name="Shape 33"/>
          <p:cNvSpPr/>
          <p:nvPr/>
        </p:nvSpPr>
        <p:spPr>
          <a:xfrm>
            <a:off x="6665976" y="2542032"/>
            <a:ext cx="2011680" cy="2286000"/>
          </a:xfrm>
          <a:prstGeom prst="rect">
            <a:avLst/>
          </a:prstGeom>
          <a:solidFill>
            <a:srgbClr val="FFFFFF"/>
          </a:solidFill>
          <a:ln w="9525">
            <a:solidFill>
              <a:srgbClr val="CBD5E1"/>
            </a:solidFill>
            <a:prstDash val="solid"/>
          </a:ln>
          <a:effectLst>
            <a:outerShdw sx="100000" sy="100000" kx="0" ky="0" algn="bl" rotWithShape="0" blurRad="76200" dist="38100" dir="8100000">
              <a:srgbClr val="94A3B8">
                <a:alpha val="18000"/>
              </a:srgbClr>
            </a:outerShdw>
          </a:effectLst>
        </p:spPr>
      </p:sp>
      <p:sp>
        <p:nvSpPr>
          <p:cNvPr id="36" name="Shape 34"/>
          <p:cNvSpPr/>
          <p:nvPr/>
        </p:nvSpPr>
        <p:spPr>
          <a:xfrm>
            <a:off x="6665976" y="2542032"/>
            <a:ext cx="2011680" cy="347472"/>
          </a:xfrm>
          <a:prstGeom prst="rect">
            <a:avLst/>
          </a:prstGeom>
          <a:solidFill>
            <a:srgbClr val="9B82C9"/>
          </a:solidFill>
          <a:ln w="12700">
            <a:solidFill>
              <a:srgbClr val="9B82C9"/>
            </a:solidFill>
            <a:prstDash val="solid"/>
          </a:ln>
        </p:spPr>
      </p:sp>
      <p:sp>
        <p:nvSpPr>
          <p:cNvPr id="37" name="Text 35"/>
          <p:cNvSpPr/>
          <p:nvPr/>
        </p:nvSpPr>
        <p:spPr>
          <a:xfrm>
            <a:off x="6665976" y="2542032"/>
            <a:ext cx="201168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FULL OUTER</a:t>
            </a:r>
            <a:endParaRPr lang="en-US" sz="950" dirty="0"/>
          </a:p>
        </p:txBody>
      </p:sp>
      <p:sp>
        <p:nvSpPr>
          <p:cNvPr id="38" name="Text 36"/>
          <p:cNvSpPr/>
          <p:nvPr/>
        </p:nvSpPr>
        <p:spPr>
          <a:xfrm>
            <a:off x="6775704" y="2953512"/>
            <a:ext cx="1792224" cy="777240"/>
          </a:xfrm>
          <a:prstGeom prst="rect">
            <a:avLst/>
          </a:prstGeom>
          <a:noFill/>
          <a:ln/>
        </p:spPr>
        <p:txBody>
          <a:bodyPr wrap="square" lIns="0" tIns="0" rIns="0" bIns="0" rtlCol="0" anchor="ctr"/>
          <a:lstStyle/>
          <a:p>
            <a:pPr indent="0" marL="0">
              <a:buNone/>
            </a:pPr>
            <a:r>
              <a:rPr lang="en-US" sz="900" dirty="0">
                <a:solidFill>
                  <a:srgbClr val="1B2E4B"/>
                </a:solidFill>
                <a:latin typeface="Calibri" pitchFamily="34" charset="0"/>
                <a:ea typeface="Calibri" pitchFamily="34" charset="-122"/>
                <a:cs typeface="Calibri" pitchFamily="34" charset="-120"/>
              </a:rPr>
              <a:t>ALL rows from both tables</a:t>
            </a:r>
            <a:endParaRPr lang="en-US" sz="900" dirty="0"/>
          </a:p>
        </p:txBody>
      </p:sp>
      <p:sp>
        <p:nvSpPr>
          <p:cNvPr id="39" name="Shape 37"/>
          <p:cNvSpPr/>
          <p:nvPr/>
        </p:nvSpPr>
        <p:spPr>
          <a:xfrm>
            <a:off x="6775704" y="3803904"/>
            <a:ext cx="1792224" cy="36576"/>
          </a:xfrm>
          <a:prstGeom prst="rect">
            <a:avLst/>
          </a:prstGeom>
          <a:solidFill>
            <a:srgbClr val="CBD5E1"/>
          </a:solidFill>
          <a:ln w="12700">
            <a:solidFill>
              <a:srgbClr val="CBD5E1"/>
            </a:solidFill>
            <a:prstDash val="solid"/>
          </a:ln>
        </p:spPr>
      </p:sp>
      <p:sp>
        <p:nvSpPr>
          <p:cNvPr id="40" name="Text 38"/>
          <p:cNvSpPr/>
          <p:nvPr/>
        </p:nvSpPr>
        <p:spPr>
          <a:xfrm>
            <a:off x="6775704" y="3913632"/>
            <a:ext cx="1792224" cy="201168"/>
          </a:xfrm>
          <a:prstGeom prst="rect">
            <a:avLst/>
          </a:prstGeom>
          <a:noFill/>
          <a:ln/>
        </p:spPr>
        <p:txBody>
          <a:bodyPr wrap="square" lIns="0" tIns="0" rIns="0" bIns="0" rtlCol="0" anchor="ctr"/>
          <a:lstStyle/>
          <a:p>
            <a:pPr indent="0" marL="0">
              <a:buNone/>
            </a:pPr>
            <a:r>
              <a:rPr lang="en-US" sz="800" b="1" dirty="0">
                <a:solidFill>
                  <a:srgbClr val="9B82C9"/>
                </a:solidFill>
                <a:latin typeface="Calibri" pitchFamily="34" charset="0"/>
                <a:ea typeface="Calibri" pitchFamily="34" charset="-122"/>
                <a:cs typeface="Calibri" pitchFamily="34" charset="-120"/>
              </a:rPr>
              <a:t>Use when:</a:t>
            </a:r>
            <a:endParaRPr lang="en-US" sz="800" dirty="0"/>
          </a:p>
        </p:txBody>
      </p:sp>
      <p:sp>
        <p:nvSpPr>
          <p:cNvPr id="41" name="Text 39"/>
          <p:cNvSpPr/>
          <p:nvPr/>
        </p:nvSpPr>
        <p:spPr>
          <a:xfrm>
            <a:off x="6775704" y="4114800"/>
            <a:ext cx="1792224" cy="594360"/>
          </a:xfrm>
          <a:prstGeom prst="rect">
            <a:avLst/>
          </a:prstGeom>
          <a:noFill/>
          <a:ln/>
        </p:spPr>
        <p:txBody>
          <a:bodyPr wrap="square" lIns="0" tIns="0" rIns="0" bIns="0" rtlCol="0" anchor="ctr"/>
          <a:lstStyle/>
          <a:p>
            <a:pPr indent="0" marL="0">
              <a:buNone/>
            </a:pPr>
            <a:r>
              <a:rPr lang="en-US" sz="850" dirty="0">
                <a:solidFill>
                  <a:srgbClr val="5A6A7A"/>
                </a:solidFill>
                <a:latin typeface="Calibri" pitchFamily="34" charset="0"/>
                <a:ea typeface="Calibri" pitchFamily="34" charset="-122"/>
                <a:cs typeface="Calibri" pitchFamily="34" charset="-120"/>
              </a:rPr>
              <a:t>Complete combined view of both tables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Laboratory Work 2 – Power BI</dc:title>
  <dc:subject>PptxGenJS Presentation</dc:subject>
  <dc:creator>PptxGenJS</dc:creator>
  <cp:lastModifiedBy>PptxGenJS</cp:lastModifiedBy>
  <cp:revision>1</cp:revision>
  <dcterms:created xsi:type="dcterms:W3CDTF">2026-03-08T13:29:40Z</dcterms:created>
  <dcterms:modified xsi:type="dcterms:W3CDTF">2026-03-08T13:29:40Z</dcterms:modified>
</cp:coreProperties>
</file>